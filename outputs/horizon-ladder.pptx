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one-sentence version: a world model predicts the future in latent space, and nobody can check that prediction against pixels, because the future it predicted never happened. This talk is about building the check anyway, and about what we found when we asked whether a cheaper check would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quickly. This is how every JEPA-style world model works: encode, roll forward, act. The industry is now betting on step three. Nobody verifies step two against pixels.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gap plainly. Everyone reports latent-space distance because it is the only thing available. The assumption underneath is that latent distance stands in for scene correctness. That assumption had never been tested on a real frozen predictor.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novelty claim, and it is a claim about the question, not about a technique. Every inversion method in the literature optimises for reconstruction quality. We need the opposite: an instrument so weak that whatever comes out has to have come from the latent.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design decision the whole project rests on. A diffusion decoder would produce a beautiful, plausible frame from a latent carrying almost nothing, and you would never know. We give up image quality to buy the guarantee that what we see is evidence about the latent.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left to right once. Context in, frozen encoder, frozen predictor asked a question it was never trained on, deliberately weak decoder, then compare against the real future frame that the model never saw. The dashed box at the bottom is the part people skip, and it is the part that makes the numbers above it mean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Credibility slide. Before we show a single headline number, we show the instrument passing its own tests, on real encoded latents, with no predictor involved. If either check failed, everything downstream would be measuring our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Under a causal query the frozen V-JEPA2 predictor was never trained for, latent drift barely moves while pixel error moves six times more, and the confidence interval on that ratio excludes one comfortably. This is the measurement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every reviewer and every engineer asks, and it is the right question. If a cheap latent-space confidence signal worked, nobody would need our instrument. So we went and built the strongest version of that objection we could.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differently shaped questions. Correlation is the obvious one and is underpowered at 24 clips, so we added a check that is not power-limited: does the proxy actually narrow a prediction interval? It does not. Then early warning, then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remember one technical result, make it this one. It is not a p-value that could evaporate with more data. A single three-cycle is a formal certificate that no single number can order these conditions. We found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identical protocol on two more predictors built and trained completely differently. The gap does not vanish, it inverts, and the two trained families agree with each other against V-JEPA2. That gives us a much more specific claim than saying the gap is V-JEPA2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slide with confidence, not apology. Naming your own boundaries before a reviewer does is what separates a finding from a claim. Every number on the site ships with its bootstrap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somebody actually takes away and uses. The finding is interesting; the checklist is the product. Order matters: skipping straight to gate three is how a decoder artefact gets published as a model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so-what. This is not a curiosity about one checkpoint. Latent-space evaluation is the default across the field because it is the only thing available, and we now have evidence about what it misses and a protocol for checking it on your own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artefact, not on a summary. Everything claimed in this deck is on one page with the code, the confidence intervals and the raw CSVs behind it. Invite them to open it while you are still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685800" y="777240"/>
            <a:ext cx="10820095" cy="274320"/>
          </a:xfrm>
          <a:prstGeom prst="rect">
            <a:avLst/>
          </a:prstGeom>
          <a:noFill/>
          <a:ln/>
        </p:spPr>
        <p:txBody>
          <a:bodyPr wrap="square" lIns="0" tIns="0" rIns="0" bIns="0" rtlCol="0" anchor="ctr"/>
          <a:lstStyle/>
          <a:p>
            <a:pPr indent="0" marL="0">
              <a:buNone/>
            </a:pPr>
            <a:r>
              <a:rPr lang="en-US" sz="1200" spc="200" kern="0" dirty="0">
                <a:solidFill>
                  <a:srgbClr val="93A0B0"/>
                </a:solidFill>
                <a:latin typeface="Courier New" pitchFamily="34" charset="0"/>
                <a:ea typeface="Courier New" pitchFamily="34" charset="-122"/>
                <a:cs typeface="Courier New" pitchFamily="34" charset="-120"/>
              </a:rPr>
              <a:t>A DIAGNOSTIC PROTOCOL FOR LATENT-ONLY WORLD MODELS</a:t>
            </a:r>
            <a:endParaRPr lang="en-US" sz="1200" dirty="0"/>
          </a:p>
        </p:txBody>
      </p:sp>
      <p:sp>
        <p:nvSpPr>
          <p:cNvPr id="3" name="Text 1"/>
          <p:cNvSpPr txBox="1"/>
          <p:nvPr/>
        </p:nvSpPr>
        <p:spPr>
          <a:xfrm>
            <a:off x="685800" y="1554480"/>
            <a:ext cx="10820095" cy="1463040"/>
          </a:xfrm>
          <a:prstGeom prst="rect">
            <a:avLst/>
          </a:prstGeom>
          <a:noFill/>
          <a:ln/>
        </p:spPr>
        <p:txBody>
          <a:bodyPr wrap="square" lIns="0" tIns="0" rIns="0" bIns="0" rtlCol="0" anchor="ctr"/>
          <a:lstStyle/>
          <a:p>
            <a:pPr indent="0" marL="0">
              <a:buNone/>
            </a:pPr>
            <a:r>
              <a:rPr lang="en-US" sz="7200" i="1" dirty="0">
                <a:solidFill>
                  <a:srgbClr val="E7EBF0"/>
                </a:solidFill>
                <a:latin typeface="Cambria" pitchFamily="34" charset="0"/>
                <a:ea typeface="Cambria" pitchFamily="34" charset="-122"/>
                <a:cs typeface="Cambria" pitchFamily="34" charset="-120"/>
              </a:rPr>
              <a:t>Horizon Ladder</a:t>
            </a:r>
            <a:endParaRPr lang="en-US" sz="7200" dirty="0"/>
          </a:p>
        </p:txBody>
      </p:sp>
      <p:sp>
        <p:nvSpPr>
          <p:cNvPr id="4" name="Text 2"/>
          <p:cNvSpPr txBox="1"/>
          <p:nvPr/>
        </p:nvSpPr>
        <p:spPr>
          <a:xfrm>
            <a:off x="685800" y="3200400"/>
            <a:ext cx="8778240" cy="1188720"/>
          </a:xfrm>
          <a:prstGeom prst="rect">
            <a:avLst/>
          </a:prstGeom>
          <a:noFill/>
          <a:ln/>
        </p:spPr>
        <p:txBody>
          <a:bodyPr wrap="square" lIns="0" tIns="0" rIns="0" bIns="0" rtlCol="0" anchor="t"/>
          <a:lstStyle/>
          <a:p>
            <a:pPr indent="0" marL="0">
              <a:lnSpc>
                <a:spcPct val="135000"/>
              </a:lnSpc>
              <a:buNone/>
            </a:pPr>
            <a:r>
              <a:rPr lang="en-US" sz="1800" dirty="0">
                <a:solidFill>
                  <a:srgbClr val="93A0B0"/>
                </a:solidFill>
                <a:latin typeface="Calibri" pitchFamily="34" charset="0"/>
                <a:ea typeface="Calibri" pitchFamily="34" charset="-122"/>
                <a:cs typeface="Calibri" pitchFamily="34" charset="-120"/>
              </a:rPr>
              <a:t>Rolling a frozen world model forward produces a latent for a future that never happened. We built the instrument that checks it anyway, and found that nothing cheaper works.</a:t>
            </a:r>
            <a:endParaRPr lang="en-US" sz="1800" dirty="0"/>
          </a:p>
        </p:txBody>
      </p:sp>
      <p:sp>
        <p:nvSpPr>
          <p:cNvPr id="5" name="Text 3"/>
          <p:cNvSpPr txBox="1"/>
          <p:nvPr/>
        </p:nvSpPr>
        <p:spPr>
          <a:xfrm>
            <a:off x="685800" y="5852160"/>
            <a:ext cx="4754880" cy="274320"/>
          </a:xfrm>
          <a:prstGeom prst="rect">
            <a:avLst/>
          </a:prstGeom>
          <a:noFill/>
          <a:ln/>
        </p:spPr>
        <p:txBody>
          <a:bodyPr wrap="square" lIns="0" tIns="0" rIns="0" bIns="0" rtlCol="0" anchor="ctr"/>
          <a:lstStyle/>
          <a:p>
            <a:pPr indent="0" marL="0">
              <a:buNone/>
            </a:pPr>
            <a:r>
              <a:rPr lang="en-US" sz="1200" dirty="0">
                <a:solidFill>
                  <a:srgbClr val="4A94EE"/>
                </a:solidFill>
                <a:latin typeface="Courier New" pitchFamily="34" charset="0"/>
                <a:ea typeface="Courier New" pitchFamily="34" charset="-122"/>
                <a:cs typeface="Courier New" pitchFamily="34" charset="-120"/>
              </a:rPr>
              <a:t>prajak002.github.io/Latent2rgb</a:t>
            </a:r>
            <a:endParaRPr lang="en-US" sz="1200" dirty="0"/>
          </a:p>
        </p:txBody>
      </p:sp>
      <p:sp>
        <p:nvSpPr>
          <p:cNvPr id="6" name="Text 4"/>
          <p:cNvSpPr txBox="1"/>
          <p:nvPr/>
        </p:nvSpPr>
        <p:spPr>
          <a:xfrm>
            <a:off x="6568135" y="5852160"/>
            <a:ext cx="4937760" cy="274320"/>
          </a:xfrm>
          <a:prstGeom prst="rect">
            <a:avLst/>
          </a:prstGeom>
          <a:noFill/>
          <a:ln/>
        </p:spPr>
        <p:txBody>
          <a:bodyPr wrap="square" lIns="0" tIns="0" rIns="0" bIns="0" rtlCol="0" anchor="ctr"/>
          <a:lstStyle/>
          <a:p>
            <a:pPr algn="r" indent="0" marL="0">
              <a:buNone/>
            </a:pPr>
            <a:r>
              <a:rPr lang="en-US" sz="1200" dirty="0">
                <a:solidFill>
                  <a:srgbClr val="6B7684"/>
                </a:solidFill>
                <a:latin typeface="Courier New" pitchFamily="34" charset="0"/>
                <a:ea typeface="Courier New" pitchFamily="34" charset="-122"/>
                <a:cs typeface="Courier New" pitchFamily="34" charset="-120"/>
              </a:rPr>
              <a:t>V-JEPA2  /  DINOv2  /  LeWM-style JEPA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F1F4"/>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74320"/>
          </a:xfrm>
          <a:prstGeom prst="rect">
            <a:avLst/>
          </a:prstGeom>
          <a:noFill/>
          <a:ln/>
        </p:spPr>
        <p:txBody>
          <a:bodyPr wrap="square" lIns="0" tIns="0" rIns="0" bIns="0" rtlCol="0" anchor="ctr"/>
          <a:lstStyle/>
          <a:p>
            <a:pPr algn="l" indent="0" marL="0">
              <a:buNone/>
            </a:pPr>
            <a:r>
              <a:rPr lang="en-US" sz="1100" spc="200" kern="0" dirty="0">
                <a:solidFill>
                  <a:srgbClr val="5B6472"/>
                </a:solidFill>
                <a:latin typeface="Courier New" pitchFamily="34" charset="0"/>
                <a:ea typeface="Courier New" pitchFamily="34" charset="-122"/>
                <a:cs typeface="Courier New" pitchFamily="34" charset="-120"/>
              </a:rPr>
              <a:t>THE SETUP</a:t>
            </a:r>
            <a:endParaRPr lang="en-US" sz="1100" dirty="0"/>
          </a:p>
        </p:txBody>
      </p:sp>
      <p:sp>
        <p:nvSpPr>
          <p:cNvPr id="3" name="Text 1"/>
          <p:cNvSpPr txBox="1"/>
          <p:nvPr/>
        </p:nvSpPr>
        <p:spPr>
          <a:xfrm>
            <a:off x="685800" y="868680"/>
            <a:ext cx="10820095" cy="1051560"/>
          </a:xfrm>
          <a:prstGeom prst="rect">
            <a:avLst/>
          </a:prstGeom>
          <a:noFill/>
          <a:ln/>
        </p:spPr>
        <p:txBody>
          <a:bodyPr wrap="square" lIns="0" tIns="0" rIns="0" bIns="0" rtlCol="0" anchor="t"/>
          <a:lstStyle/>
          <a:p>
            <a:pPr algn="l" indent="0" marL="0">
              <a:lnSpc>
                <a:spcPct val="105000"/>
              </a:lnSpc>
              <a:buNone/>
            </a:pPr>
            <a:r>
              <a:rPr lang="en-US" sz="3400" i="1" dirty="0">
                <a:solidFill>
                  <a:srgbClr val="161B22"/>
                </a:solidFill>
                <a:latin typeface="Cambria" pitchFamily="34" charset="0"/>
                <a:ea typeface="Cambria" pitchFamily="34" charset="-122"/>
                <a:cs typeface="Cambria" pitchFamily="34" charset="-120"/>
              </a:rPr>
              <a:t>A world model predicts the future in latent space</a:t>
            </a:r>
            <a:endParaRPr lang="en-US" sz="3400" dirty="0"/>
          </a:p>
        </p:txBody>
      </p:sp>
      <p:sp>
        <p:nvSpPr>
          <p:cNvPr id="4" name="Shape 2"/>
          <p:cNvSpPr/>
          <p:nvPr/>
        </p:nvSpPr>
        <p:spPr>
          <a:xfrm>
            <a:off x="685800" y="2148840"/>
            <a:ext cx="3423818" cy="2148840"/>
          </a:xfrm>
          <a:prstGeom prst="roundRect">
            <a:avLst>
              <a:gd name="adj" fmla="val 3404"/>
            </a:avLst>
          </a:prstGeom>
          <a:solidFill>
            <a:srgbClr val="F7F9FB"/>
          </a:solidFill>
          <a:ln w="9525">
            <a:solidFill>
              <a:srgbClr val="CCD4DC"/>
            </a:solidFill>
            <a:prstDash val="solid"/>
          </a:ln>
        </p:spPr>
      </p:sp>
      <p:sp>
        <p:nvSpPr>
          <p:cNvPr id="5" name="Text 3"/>
          <p:cNvSpPr txBox="1"/>
          <p:nvPr/>
        </p:nvSpPr>
        <p:spPr>
          <a:xfrm>
            <a:off x="978408" y="2377440"/>
            <a:ext cx="2838602" cy="237744"/>
          </a:xfrm>
          <a:prstGeom prst="rect">
            <a:avLst/>
          </a:prstGeom>
          <a:noFill/>
          <a:ln/>
        </p:spPr>
        <p:txBody>
          <a:bodyPr wrap="square" lIns="0" tIns="0" rIns="0" bIns="0" rtlCol="0" anchor="ctr"/>
          <a:lstStyle/>
          <a:p>
            <a:pPr indent="0" marL="0">
              <a:buNone/>
            </a:pPr>
            <a:r>
              <a:rPr lang="en-US" sz="1100" dirty="0">
                <a:solidFill>
                  <a:srgbClr val="4A94EE"/>
                </a:solidFill>
                <a:latin typeface="Courier New" pitchFamily="34" charset="0"/>
                <a:ea typeface="Courier New" pitchFamily="34" charset="-122"/>
                <a:cs typeface="Courier New" pitchFamily="34" charset="-120"/>
              </a:rPr>
              <a:t>01</a:t>
            </a:r>
            <a:endParaRPr lang="en-US" sz="1100" dirty="0"/>
          </a:p>
        </p:txBody>
      </p:sp>
      <p:sp>
        <p:nvSpPr>
          <p:cNvPr id="6" name="Text 4"/>
          <p:cNvSpPr txBox="1"/>
          <p:nvPr/>
        </p:nvSpPr>
        <p:spPr>
          <a:xfrm>
            <a:off x="978408" y="2670048"/>
            <a:ext cx="2838602" cy="365760"/>
          </a:xfrm>
          <a:prstGeom prst="rect">
            <a:avLst/>
          </a:prstGeom>
          <a:noFill/>
          <a:ln/>
        </p:spPr>
        <p:txBody>
          <a:bodyPr wrap="square" lIns="0" tIns="0" rIns="0" bIns="0" rtlCol="0" anchor="ctr"/>
          <a:lstStyle/>
          <a:p>
            <a:pPr indent="0" marL="0">
              <a:buNone/>
            </a:pPr>
            <a:r>
              <a:rPr lang="en-US" sz="1800" b="1" dirty="0">
                <a:solidFill>
                  <a:srgbClr val="161B22"/>
                </a:solidFill>
                <a:latin typeface="Calibri" pitchFamily="34" charset="0"/>
                <a:ea typeface="Calibri" pitchFamily="34" charset="-122"/>
                <a:cs typeface="Calibri" pitchFamily="34" charset="-120"/>
              </a:rPr>
              <a:t>Encode</a:t>
            </a:r>
            <a:endParaRPr lang="en-US" sz="1800" dirty="0"/>
          </a:p>
        </p:txBody>
      </p:sp>
      <p:sp>
        <p:nvSpPr>
          <p:cNvPr id="7" name="Text 5"/>
          <p:cNvSpPr txBox="1"/>
          <p:nvPr/>
        </p:nvSpPr>
        <p:spPr>
          <a:xfrm>
            <a:off x="978408" y="3127248"/>
            <a:ext cx="2838602" cy="1005840"/>
          </a:xfrm>
          <a:prstGeom prst="rect">
            <a:avLst/>
          </a:prstGeom>
          <a:noFill/>
          <a:ln/>
        </p:spPr>
        <p:txBody>
          <a:bodyPr wrap="square" lIns="0" tIns="0" rIns="0" bIns="0" rtlCol="0" anchor="ctr"/>
          <a:lstStyle/>
          <a:p>
            <a:pPr indent="0" marL="0">
              <a:lnSpc>
                <a:spcPct val="130000"/>
              </a:lnSpc>
              <a:buNone/>
            </a:pPr>
            <a:r>
              <a:rPr lang="en-US" sz="1300" dirty="0">
                <a:solidFill>
                  <a:srgbClr val="5B6472"/>
                </a:solidFill>
                <a:latin typeface="Calibri" pitchFamily="34" charset="0"/>
                <a:ea typeface="Calibri" pitchFamily="34" charset="-122"/>
                <a:cs typeface="Calibri" pitchFamily="34" charset="-120"/>
              </a:rPr>
              <a:t>Real frames go in. Out comes a sequence of latent tokens: the model’s compressed idea of what is happening.</a:t>
            </a:r>
            <a:endParaRPr lang="en-US" sz="1300" dirty="0"/>
          </a:p>
        </p:txBody>
      </p:sp>
      <p:sp>
        <p:nvSpPr>
          <p:cNvPr id="8" name="Shape 6"/>
          <p:cNvSpPr/>
          <p:nvPr/>
        </p:nvSpPr>
        <p:spPr>
          <a:xfrm>
            <a:off x="4383938" y="2148840"/>
            <a:ext cx="3423818" cy="2148840"/>
          </a:xfrm>
          <a:prstGeom prst="roundRect">
            <a:avLst>
              <a:gd name="adj" fmla="val 3404"/>
            </a:avLst>
          </a:prstGeom>
          <a:solidFill>
            <a:srgbClr val="F7F9FB"/>
          </a:solidFill>
          <a:ln w="9525">
            <a:solidFill>
              <a:srgbClr val="CCD4DC"/>
            </a:solidFill>
            <a:prstDash val="solid"/>
          </a:ln>
        </p:spPr>
      </p:sp>
      <p:sp>
        <p:nvSpPr>
          <p:cNvPr id="9" name="Text 7"/>
          <p:cNvSpPr txBox="1"/>
          <p:nvPr/>
        </p:nvSpPr>
        <p:spPr>
          <a:xfrm>
            <a:off x="4676546" y="2377440"/>
            <a:ext cx="2838602" cy="237744"/>
          </a:xfrm>
          <a:prstGeom prst="rect">
            <a:avLst/>
          </a:prstGeom>
          <a:noFill/>
          <a:ln/>
        </p:spPr>
        <p:txBody>
          <a:bodyPr wrap="square" lIns="0" tIns="0" rIns="0" bIns="0" rtlCol="0" anchor="ctr"/>
          <a:lstStyle/>
          <a:p>
            <a:pPr indent="0" marL="0">
              <a:buNone/>
            </a:pPr>
            <a:r>
              <a:rPr lang="en-US" sz="1100" dirty="0">
                <a:solidFill>
                  <a:srgbClr val="4A94EE"/>
                </a:solidFill>
                <a:latin typeface="Courier New" pitchFamily="34" charset="0"/>
                <a:ea typeface="Courier New" pitchFamily="34" charset="-122"/>
                <a:cs typeface="Courier New" pitchFamily="34" charset="-120"/>
              </a:rPr>
              <a:t>02</a:t>
            </a:r>
            <a:endParaRPr lang="en-US" sz="1100" dirty="0"/>
          </a:p>
        </p:txBody>
      </p:sp>
      <p:sp>
        <p:nvSpPr>
          <p:cNvPr id="10" name="Text 8"/>
          <p:cNvSpPr txBox="1"/>
          <p:nvPr/>
        </p:nvSpPr>
        <p:spPr>
          <a:xfrm>
            <a:off x="4676546" y="2670048"/>
            <a:ext cx="2838602" cy="365760"/>
          </a:xfrm>
          <a:prstGeom prst="rect">
            <a:avLst/>
          </a:prstGeom>
          <a:noFill/>
          <a:ln/>
        </p:spPr>
        <p:txBody>
          <a:bodyPr wrap="square" lIns="0" tIns="0" rIns="0" bIns="0" rtlCol="0" anchor="ctr"/>
          <a:lstStyle/>
          <a:p>
            <a:pPr indent="0" marL="0">
              <a:buNone/>
            </a:pPr>
            <a:r>
              <a:rPr lang="en-US" sz="1800" b="1" dirty="0">
                <a:solidFill>
                  <a:srgbClr val="161B22"/>
                </a:solidFill>
                <a:latin typeface="Calibri" pitchFamily="34" charset="0"/>
                <a:ea typeface="Calibri" pitchFamily="34" charset="-122"/>
                <a:cs typeface="Calibri" pitchFamily="34" charset="-120"/>
              </a:rPr>
              <a:t>Roll forward</a:t>
            </a:r>
            <a:endParaRPr lang="en-US" sz="1800" dirty="0"/>
          </a:p>
        </p:txBody>
      </p:sp>
      <p:sp>
        <p:nvSpPr>
          <p:cNvPr id="11" name="Text 9"/>
          <p:cNvSpPr txBox="1"/>
          <p:nvPr/>
        </p:nvSpPr>
        <p:spPr>
          <a:xfrm>
            <a:off x="4676546" y="3127248"/>
            <a:ext cx="2838602" cy="1005840"/>
          </a:xfrm>
          <a:prstGeom prst="rect">
            <a:avLst/>
          </a:prstGeom>
          <a:noFill/>
          <a:ln/>
        </p:spPr>
        <p:txBody>
          <a:bodyPr wrap="square" lIns="0" tIns="0" rIns="0" bIns="0" rtlCol="0" anchor="ctr"/>
          <a:lstStyle/>
          <a:p>
            <a:pPr indent="0" marL="0">
              <a:lnSpc>
                <a:spcPct val="130000"/>
              </a:lnSpc>
              <a:buNone/>
            </a:pPr>
            <a:r>
              <a:rPr lang="en-US" sz="1300" dirty="0">
                <a:solidFill>
                  <a:srgbClr val="5B6472"/>
                </a:solidFill>
                <a:latin typeface="Calibri" pitchFamily="34" charset="0"/>
                <a:ea typeface="Calibri" pitchFamily="34" charset="-122"/>
                <a:cs typeface="Calibri" pitchFamily="34" charset="-120"/>
              </a:rPr>
              <a:t>Ask the frozen predictor what the latent looks like k frames from now. No pixels are involved at any point.</a:t>
            </a:r>
            <a:endParaRPr lang="en-US" sz="1300" dirty="0"/>
          </a:p>
        </p:txBody>
      </p:sp>
      <p:sp>
        <p:nvSpPr>
          <p:cNvPr id="12" name="Shape 10"/>
          <p:cNvSpPr/>
          <p:nvPr/>
        </p:nvSpPr>
        <p:spPr>
          <a:xfrm>
            <a:off x="8082077" y="2148840"/>
            <a:ext cx="3423818" cy="2148840"/>
          </a:xfrm>
          <a:prstGeom prst="roundRect">
            <a:avLst>
              <a:gd name="adj" fmla="val 3404"/>
            </a:avLst>
          </a:prstGeom>
          <a:solidFill>
            <a:srgbClr val="F7F9FB"/>
          </a:solidFill>
          <a:ln w="9525">
            <a:solidFill>
              <a:srgbClr val="CCD4DC"/>
            </a:solidFill>
            <a:prstDash val="solid"/>
          </a:ln>
        </p:spPr>
      </p:sp>
      <p:sp>
        <p:nvSpPr>
          <p:cNvPr id="13" name="Text 11"/>
          <p:cNvSpPr txBox="1"/>
          <p:nvPr/>
        </p:nvSpPr>
        <p:spPr>
          <a:xfrm>
            <a:off x="8374685" y="2377440"/>
            <a:ext cx="2838602" cy="237744"/>
          </a:xfrm>
          <a:prstGeom prst="rect">
            <a:avLst/>
          </a:prstGeom>
          <a:noFill/>
          <a:ln/>
        </p:spPr>
        <p:txBody>
          <a:bodyPr wrap="square" lIns="0" tIns="0" rIns="0" bIns="0" rtlCol="0" anchor="ctr"/>
          <a:lstStyle/>
          <a:p>
            <a:pPr indent="0" marL="0">
              <a:buNone/>
            </a:pPr>
            <a:r>
              <a:rPr lang="en-US" sz="1100" dirty="0">
                <a:solidFill>
                  <a:srgbClr val="4A94EE"/>
                </a:solidFill>
                <a:latin typeface="Courier New" pitchFamily="34" charset="0"/>
                <a:ea typeface="Courier New" pitchFamily="34" charset="-122"/>
                <a:cs typeface="Courier New" pitchFamily="34" charset="-120"/>
              </a:rPr>
              <a:t>03</a:t>
            </a:r>
            <a:endParaRPr lang="en-US" sz="1100" dirty="0"/>
          </a:p>
        </p:txBody>
      </p:sp>
      <p:sp>
        <p:nvSpPr>
          <p:cNvPr id="14" name="Text 12"/>
          <p:cNvSpPr txBox="1"/>
          <p:nvPr/>
        </p:nvSpPr>
        <p:spPr>
          <a:xfrm>
            <a:off x="8374685" y="2670048"/>
            <a:ext cx="2838602" cy="365760"/>
          </a:xfrm>
          <a:prstGeom prst="rect">
            <a:avLst/>
          </a:prstGeom>
          <a:noFill/>
          <a:ln/>
        </p:spPr>
        <p:txBody>
          <a:bodyPr wrap="square" lIns="0" tIns="0" rIns="0" bIns="0" rtlCol="0" anchor="ctr"/>
          <a:lstStyle/>
          <a:p>
            <a:pPr indent="0" marL="0">
              <a:buNone/>
            </a:pPr>
            <a:r>
              <a:rPr lang="en-US" sz="1800" b="1" dirty="0">
                <a:solidFill>
                  <a:srgbClr val="161B22"/>
                </a:solidFill>
                <a:latin typeface="Calibri" pitchFamily="34" charset="0"/>
                <a:ea typeface="Calibri" pitchFamily="34" charset="-122"/>
                <a:cs typeface="Calibri" pitchFamily="34" charset="-120"/>
              </a:rPr>
              <a:t>Act on it</a:t>
            </a:r>
            <a:endParaRPr lang="en-US" sz="1800" dirty="0"/>
          </a:p>
        </p:txBody>
      </p:sp>
      <p:sp>
        <p:nvSpPr>
          <p:cNvPr id="15" name="Text 13"/>
          <p:cNvSpPr txBox="1"/>
          <p:nvPr/>
        </p:nvSpPr>
        <p:spPr>
          <a:xfrm>
            <a:off x="8374685" y="3127248"/>
            <a:ext cx="2838602" cy="1005840"/>
          </a:xfrm>
          <a:prstGeom prst="rect">
            <a:avLst/>
          </a:prstGeom>
          <a:noFill/>
          <a:ln/>
        </p:spPr>
        <p:txBody>
          <a:bodyPr wrap="square" lIns="0" tIns="0" rIns="0" bIns="0" rtlCol="0" anchor="ctr"/>
          <a:lstStyle/>
          <a:p>
            <a:pPr indent="0" marL="0">
              <a:lnSpc>
                <a:spcPct val="130000"/>
              </a:lnSpc>
              <a:buNone/>
            </a:pPr>
            <a:r>
              <a:rPr lang="en-US" sz="1300" dirty="0">
                <a:solidFill>
                  <a:srgbClr val="5B6472"/>
                </a:solidFill>
                <a:latin typeface="Calibri" pitchFamily="34" charset="0"/>
                <a:ea typeface="Calibri" pitchFamily="34" charset="-122"/>
                <a:cs typeface="Calibri" pitchFamily="34" charset="-120"/>
              </a:rPr>
              <a:t>Planning, control and evaluation all read that rolled-forward latent as if it were true.</a:t>
            </a:r>
            <a:endParaRPr lang="en-US" sz="1300" dirty="0"/>
          </a:p>
        </p:txBody>
      </p:sp>
      <p:sp>
        <p:nvSpPr>
          <p:cNvPr id="16" name="Text 14"/>
          <p:cNvSpPr txBox="1"/>
          <p:nvPr/>
        </p:nvSpPr>
        <p:spPr>
          <a:xfrm>
            <a:off x="685800" y="4663440"/>
            <a:ext cx="9875520" cy="731520"/>
          </a:xfrm>
          <a:prstGeom prst="rect">
            <a:avLst/>
          </a:prstGeom>
          <a:noFill/>
          <a:ln/>
        </p:spPr>
        <p:txBody>
          <a:bodyPr wrap="square" lIns="0" tIns="0" rIns="0" bIns="0" rtlCol="0" anchor="ctr"/>
          <a:lstStyle/>
          <a:p>
            <a:pPr indent="0" marL="0">
              <a:lnSpc>
                <a:spcPct val="135000"/>
              </a:lnSpc>
              <a:buNone/>
            </a:pPr>
            <a:r>
              <a:rPr lang="en-US" sz="1500" dirty="0">
                <a:solidFill>
                  <a:srgbClr val="5B6472"/>
                </a:solidFill>
                <a:latin typeface="Calibri" pitchFamily="34" charset="0"/>
                <a:ea typeface="Calibri" pitchFamily="34" charset="-122"/>
                <a:cs typeface="Calibri" pitchFamily="34" charset="-120"/>
              </a:rPr>
              <a:t>Step 03 is the one that matters commercially. Every downstream decision trusts a prediction that was never checked against an image.</a:t>
            </a:r>
            <a:endParaRPr lang="en-US" sz="1500" dirty="0"/>
          </a:p>
        </p:txBody>
      </p:sp>
      <p:sp>
        <p:nvSpPr>
          <p:cNvPr id="17" name="Text 15"/>
          <p:cNvSpPr txBox="1"/>
          <p:nvPr/>
        </p:nvSpPr>
        <p:spPr>
          <a:xfrm>
            <a:off x="685800" y="6199632"/>
            <a:ext cx="5486400" cy="274320"/>
          </a:xfrm>
          <a:prstGeom prst="rect">
            <a:avLst/>
          </a:prstGeom>
          <a:noFill/>
          <a:ln/>
        </p:spPr>
        <p:txBody>
          <a:bodyPr wrap="square" lIns="0" tIns="0" rIns="0" bIns="0" rtlCol="0" anchor="ctr"/>
          <a:lstStyle/>
          <a:p>
            <a:pPr algn="l" indent="0" marL="0">
              <a:buNone/>
            </a:pPr>
            <a:r>
              <a:rPr lang="en-US" sz="1000" dirty="0">
                <a:solidFill>
                  <a:srgbClr val="7C8794"/>
                </a:solidFill>
                <a:latin typeface="Courier New" pitchFamily="34" charset="0"/>
                <a:ea typeface="Courier New" pitchFamily="34" charset="-122"/>
                <a:cs typeface="Courier New" pitchFamily="34" charset="-120"/>
              </a:rPr>
              <a:t>Setup</a:t>
            </a:r>
            <a:endParaRPr lang="en-US" sz="1000" dirty="0"/>
          </a:p>
        </p:txBody>
      </p:sp>
      <p:sp>
        <p:nvSpPr>
          <p:cNvPr id="18" name="Text 16"/>
          <p:cNvSpPr txBox="1"/>
          <p:nvPr/>
        </p:nvSpPr>
        <p:spPr>
          <a:xfrm>
            <a:off x="9677095" y="6199632"/>
            <a:ext cx="1828800" cy="274320"/>
          </a:xfrm>
          <a:prstGeom prst="rect">
            <a:avLst/>
          </a:prstGeom>
          <a:noFill/>
          <a:ln/>
        </p:spPr>
        <p:txBody>
          <a:bodyPr wrap="square" lIns="0" tIns="0" rIns="0" bIns="0" rtlCol="0" anchor="ctr"/>
          <a:lstStyle/>
          <a:p>
            <a:pPr algn="r" indent="0" marL="0">
              <a:buNone/>
            </a:pPr>
            <a:r>
              <a:rPr lang="en-US" sz="1000" dirty="0">
                <a:solidFill>
                  <a:srgbClr val="7C8794"/>
                </a:solidFill>
                <a:latin typeface="Courier New" pitchFamily="34" charset="0"/>
                <a:ea typeface="Courier New" pitchFamily="34" charset="-122"/>
                <a:cs typeface="Courier New"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74320"/>
          </a:xfrm>
          <a:prstGeom prst="rect">
            <a:avLst/>
          </a:prstGeom>
          <a:noFill/>
          <a:ln/>
        </p:spPr>
        <p:txBody>
          <a:bodyPr wrap="square" lIns="0" tIns="0" rIns="0" bIns="0" rtlCol="0" anchor="ctr"/>
          <a:lstStyle/>
          <a:p>
            <a:pPr algn="l" indent="0" marL="0">
              <a:buNone/>
            </a:pPr>
            <a:r>
              <a:rPr lang="en-US" sz="1100" spc="200" kern="0" dirty="0">
                <a:solidFill>
                  <a:srgbClr val="93A0B0"/>
                </a:solidFill>
                <a:latin typeface="Courier New" pitchFamily="34" charset="0"/>
                <a:ea typeface="Courier New" pitchFamily="34" charset="-122"/>
                <a:cs typeface="Courier New" pitchFamily="34" charset="-120"/>
              </a:rPr>
              <a:t>THE PROBLEM</a:t>
            </a:r>
            <a:endParaRPr lang="en-US" sz="1100" dirty="0"/>
          </a:p>
        </p:txBody>
      </p:sp>
      <p:sp>
        <p:nvSpPr>
          <p:cNvPr id="3" name="Text 1"/>
          <p:cNvSpPr txBox="1"/>
          <p:nvPr/>
        </p:nvSpPr>
        <p:spPr>
          <a:xfrm>
            <a:off x="685800" y="914400"/>
            <a:ext cx="10241280" cy="1554480"/>
          </a:xfrm>
          <a:prstGeom prst="rect">
            <a:avLst/>
          </a:prstGeom>
          <a:noFill/>
          <a:ln/>
        </p:spPr>
        <p:txBody>
          <a:bodyPr wrap="square" lIns="0" tIns="0" rIns="0" bIns="0" rtlCol="0" anchor="t"/>
          <a:lstStyle/>
          <a:p>
            <a:pPr indent="0" marL="0">
              <a:lnSpc>
                <a:spcPct val="106000"/>
              </a:lnSpc>
              <a:buNone/>
            </a:pPr>
            <a:r>
              <a:rPr lang="en-US" sz="4000" i="1" dirty="0">
                <a:solidFill>
                  <a:srgbClr val="E7EBF0"/>
                </a:solidFill>
                <a:latin typeface="Cambria" pitchFamily="34" charset="0"/>
                <a:ea typeface="Cambria" pitchFamily="34" charset="-122"/>
                <a:cs typeface="Cambria" pitchFamily="34" charset="-120"/>
              </a:rPr>
              <a:t>There is no ground truth for a future that never happened.</a:t>
            </a:r>
            <a:endParaRPr lang="en-US" sz="4000" dirty="0"/>
          </a:p>
        </p:txBody>
      </p:sp>
      <p:sp>
        <p:nvSpPr>
          <p:cNvPr id="4" name="Text 2"/>
          <p:cNvSpPr txBox="1"/>
          <p:nvPr/>
        </p:nvSpPr>
        <p:spPr>
          <a:xfrm>
            <a:off x="685800" y="3063240"/>
            <a:ext cx="5090008" cy="274320"/>
          </a:xfrm>
          <a:prstGeom prst="rect">
            <a:avLst/>
          </a:prstGeom>
          <a:noFill/>
          <a:ln/>
        </p:spPr>
        <p:txBody>
          <a:bodyPr wrap="square" lIns="0" tIns="0" rIns="0" bIns="0" rtlCol="0" anchor="ctr"/>
          <a:lstStyle/>
          <a:p>
            <a:pPr indent="0" marL="0">
              <a:buNone/>
            </a:pPr>
            <a:r>
              <a:rPr lang="en-US" sz="1100" spc="150" kern="0" dirty="0">
                <a:solidFill>
                  <a:srgbClr val="E88B83"/>
                </a:solidFill>
                <a:latin typeface="Courier New" pitchFamily="34" charset="0"/>
                <a:ea typeface="Courier New" pitchFamily="34" charset="-122"/>
                <a:cs typeface="Courier New" pitchFamily="34" charset="-120"/>
              </a:rPr>
              <a:t>WHAT YOU CAN MEASURE</a:t>
            </a:r>
            <a:endParaRPr lang="en-US" sz="1100" dirty="0"/>
          </a:p>
        </p:txBody>
      </p:sp>
      <p:sp>
        <p:nvSpPr>
          <p:cNvPr id="5" name="Text 3"/>
          <p:cNvSpPr txBox="1"/>
          <p:nvPr/>
        </p:nvSpPr>
        <p:spPr>
          <a:xfrm>
            <a:off x="685800" y="3429000"/>
            <a:ext cx="5090008" cy="1005840"/>
          </a:xfrm>
          <a:prstGeom prst="rect">
            <a:avLst/>
          </a:prstGeom>
          <a:noFill/>
          <a:ln/>
        </p:spPr>
        <p:txBody>
          <a:bodyPr wrap="square" lIns="0" tIns="0" rIns="0" bIns="0" rtlCol="0" anchor="ctr"/>
          <a:lstStyle/>
          <a:p>
            <a:pPr indent="0" marL="0">
              <a:lnSpc>
                <a:spcPct val="135000"/>
              </a:lnSpc>
              <a:buNone/>
            </a:pPr>
            <a:r>
              <a:rPr lang="en-US" sz="1600" dirty="0">
                <a:solidFill>
                  <a:srgbClr val="93A0B0"/>
                </a:solidFill>
                <a:latin typeface="Calibri" pitchFamily="34" charset="0"/>
                <a:ea typeface="Calibri" pitchFamily="34" charset="-122"/>
                <a:cs typeface="Calibri" pitchFamily="34" charset="-120"/>
              </a:rPr>
              <a:t>How far the predicted latent sits from the real one. A number in representation space.</a:t>
            </a:r>
            <a:endParaRPr lang="en-US" sz="1600" dirty="0"/>
          </a:p>
        </p:txBody>
      </p:sp>
      <p:sp>
        <p:nvSpPr>
          <p:cNvPr id="6" name="Text 4"/>
          <p:cNvSpPr txBox="1"/>
          <p:nvPr/>
        </p:nvSpPr>
        <p:spPr>
          <a:xfrm>
            <a:off x="6415888" y="3063240"/>
            <a:ext cx="5090008" cy="274320"/>
          </a:xfrm>
          <a:prstGeom prst="rect">
            <a:avLst/>
          </a:prstGeom>
          <a:noFill/>
          <a:ln/>
        </p:spPr>
        <p:txBody>
          <a:bodyPr wrap="square" lIns="0" tIns="0" rIns="0" bIns="0" rtlCol="0" anchor="ctr"/>
          <a:lstStyle/>
          <a:p>
            <a:pPr indent="0" marL="0">
              <a:buNone/>
            </a:pPr>
            <a:r>
              <a:rPr lang="en-US" sz="1100" spc="150" kern="0" dirty="0">
                <a:solidFill>
                  <a:srgbClr val="E88B83"/>
                </a:solidFill>
                <a:latin typeface="Courier New" pitchFamily="34" charset="0"/>
                <a:ea typeface="Courier New" pitchFamily="34" charset="-122"/>
                <a:cs typeface="Courier New" pitchFamily="34" charset="-120"/>
              </a:rPr>
              <a:t>WHAT YOU ACTUALLY CARE ABOUT</a:t>
            </a:r>
            <a:endParaRPr lang="en-US" sz="1100" dirty="0"/>
          </a:p>
        </p:txBody>
      </p:sp>
      <p:sp>
        <p:nvSpPr>
          <p:cNvPr id="7" name="Text 5"/>
          <p:cNvSpPr txBox="1"/>
          <p:nvPr/>
        </p:nvSpPr>
        <p:spPr>
          <a:xfrm>
            <a:off x="6415888" y="3429000"/>
            <a:ext cx="5090008" cy="1005840"/>
          </a:xfrm>
          <a:prstGeom prst="rect">
            <a:avLst/>
          </a:prstGeom>
          <a:noFill/>
          <a:ln/>
        </p:spPr>
        <p:txBody>
          <a:bodyPr wrap="square" lIns="0" tIns="0" rIns="0" bIns="0" rtlCol="0" anchor="ctr"/>
          <a:lstStyle/>
          <a:p>
            <a:pPr indent="0" marL="0">
              <a:lnSpc>
                <a:spcPct val="135000"/>
              </a:lnSpc>
              <a:buNone/>
            </a:pPr>
            <a:r>
              <a:rPr lang="en-US" sz="1600" dirty="0">
                <a:solidFill>
                  <a:srgbClr val="93A0B0"/>
                </a:solidFill>
                <a:latin typeface="Calibri" pitchFamily="34" charset="0"/>
                <a:ea typeface="Calibri" pitchFamily="34" charset="-122"/>
                <a:cs typeface="Calibri" pitchFamily="34" charset="-120"/>
              </a:rPr>
              <a:t>Whether the scene it describes is right. A number in pixel space, which nobody computes.</a:t>
            </a:r>
            <a:endParaRPr lang="en-US" sz="1600" dirty="0"/>
          </a:p>
        </p:txBody>
      </p:sp>
      <p:sp>
        <p:nvSpPr>
          <p:cNvPr id="8" name="Text 6"/>
          <p:cNvSpPr txBox="1"/>
          <p:nvPr/>
        </p:nvSpPr>
        <p:spPr>
          <a:xfrm>
            <a:off x="685800" y="4846320"/>
            <a:ext cx="10241280" cy="457200"/>
          </a:xfrm>
          <a:prstGeom prst="rect">
            <a:avLst/>
          </a:prstGeom>
          <a:noFill/>
          <a:ln/>
        </p:spPr>
        <p:txBody>
          <a:bodyPr wrap="square" lIns="0" tIns="0" rIns="0" bIns="0" rtlCol="0" anchor="ctr"/>
          <a:lstStyle/>
          <a:p>
            <a:pPr indent="0" marL="0">
              <a:buNone/>
            </a:pPr>
            <a:r>
              <a:rPr lang="en-US" sz="1800" b="1" dirty="0">
                <a:solidFill>
                  <a:srgbClr val="E7EBF0"/>
                </a:solidFill>
                <a:latin typeface="Calibri" pitchFamily="34" charset="0"/>
                <a:ea typeface="Calibri" pitchFamily="34" charset="-122"/>
                <a:cs typeface="Calibri" pitchFamily="34" charset="-120"/>
              </a:rPr>
              <a:t>The question this project asks: </a:t>
            </a:r>
            <a:pPr indent="0" marL="0">
              <a:buNone/>
            </a:pPr>
            <a:r>
              <a:rPr lang="en-US" sz="1800" dirty="0">
                <a:solidFill>
                  <a:srgbClr val="93A0B0"/>
                </a:solidFill>
                <a:latin typeface="Calibri" pitchFamily="34" charset="0"/>
                <a:ea typeface="Calibri" pitchFamily="34" charset="-122"/>
                <a:cs typeface="Calibri" pitchFamily="34" charset="-120"/>
              </a:rPr>
              <a:t>do those two numbers even move together?</a:t>
            </a:r>
            <a:endParaRPr lang="en-US" sz="1800" dirty="0"/>
          </a:p>
        </p:txBody>
      </p:sp>
      <p:sp>
        <p:nvSpPr>
          <p:cNvPr id="9" name="Text 7"/>
          <p:cNvSpPr txBox="1"/>
          <p:nvPr/>
        </p:nvSpPr>
        <p:spPr>
          <a:xfrm>
            <a:off x="685800" y="6199632"/>
            <a:ext cx="5486400" cy="274320"/>
          </a:xfrm>
          <a:prstGeom prst="rect">
            <a:avLst/>
          </a:prstGeom>
          <a:noFill/>
          <a:ln/>
        </p:spPr>
        <p:txBody>
          <a:bodyPr wrap="square" lIns="0" tIns="0" rIns="0" bIns="0" rtlCol="0" anchor="ctr"/>
          <a:lstStyle/>
          <a:p>
            <a:pPr algn="l" indent="0" marL="0">
              <a:buNone/>
            </a:pPr>
            <a:r>
              <a:rPr lang="en-US" sz="1000" dirty="0">
                <a:solidFill>
                  <a:srgbClr val="8794A4"/>
                </a:solidFill>
                <a:latin typeface="Courier New" pitchFamily="34" charset="0"/>
                <a:ea typeface="Courier New" pitchFamily="34" charset="-122"/>
                <a:cs typeface="Courier New" pitchFamily="34" charset="-120"/>
              </a:rPr>
              <a:t>The problem</a:t>
            </a:r>
            <a:endParaRPr lang="en-US" sz="1000" dirty="0"/>
          </a:p>
        </p:txBody>
      </p:sp>
      <p:sp>
        <p:nvSpPr>
          <p:cNvPr id="10" name="Text 8"/>
          <p:cNvSpPr txBox="1"/>
          <p:nvPr/>
        </p:nvSpPr>
        <p:spPr>
          <a:xfrm>
            <a:off x="9677095" y="6199632"/>
            <a:ext cx="1828800" cy="274320"/>
          </a:xfrm>
          <a:prstGeom prst="rect">
            <a:avLst/>
          </a:prstGeom>
          <a:noFill/>
          <a:ln/>
        </p:spPr>
        <p:txBody>
          <a:bodyPr wrap="square" lIns="0" tIns="0" rIns="0" bIns="0" rtlCol="0" anchor="ctr"/>
          <a:lstStyle/>
          <a:p>
            <a:pPr algn="r" indent="0" marL="0">
              <a:buNone/>
            </a:pPr>
            <a:r>
              <a:rPr lang="en-US" sz="1000" dirty="0">
                <a:solidFill>
                  <a:srgbClr val="8794A4"/>
                </a:solidFill>
                <a:latin typeface="Courier New" pitchFamily="34" charset="0"/>
                <a:ea typeface="Courier New" pitchFamily="34" charset="-122"/>
                <a:cs typeface="Courier New"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F1F4"/>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74320"/>
          </a:xfrm>
          <a:prstGeom prst="rect">
            <a:avLst/>
          </a:prstGeom>
          <a:noFill/>
          <a:ln/>
        </p:spPr>
        <p:txBody>
          <a:bodyPr wrap="square" lIns="0" tIns="0" rIns="0" bIns="0" rtlCol="0" anchor="ctr"/>
          <a:lstStyle/>
          <a:p>
            <a:pPr algn="l" indent="0" marL="0">
              <a:buNone/>
            </a:pPr>
            <a:r>
              <a:rPr lang="en-US" sz="1100" spc="200" kern="0" dirty="0">
                <a:solidFill>
                  <a:srgbClr val="5B6472"/>
                </a:solidFill>
                <a:latin typeface="Courier New" pitchFamily="34" charset="0"/>
                <a:ea typeface="Courier New" pitchFamily="34" charset="-122"/>
                <a:cs typeface="Courier New" pitchFamily="34" charset="-120"/>
              </a:rPr>
              <a:t>WHY THIS WAS OPEN</a:t>
            </a:r>
            <a:endParaRPr lang="en-US" sz="1100" dirty="0"/>
          </a:p>
        </p:txBody>
      </p:sp>
      <p:sp>
        <p:nvSpPr>
          <p:cNvPr id="3" name="Text 1"/>
          <p:cNvSpPr txBox="1"/>
          <p:nvPr/>
        </p:nvSpPr>
        <p:spPr>
          <a:xfrm>
            <a:off x="685800" y="868680"/>
            <a:ext cx="10820095" cy="1051560"/>
          </a:xfrm>
          <a:prstGeom prst="rect">
            <a:avLst/>
          </a:prstGeom>
          <a:noFill/>
          <a:ln/>
        </p:spPr>
        <p:txBody>
          <a:bodyPr wrap="square" lIns="0" tIns="0" rIns="0" bIns="0" rtlCol="0" anchor="t"/>
          <a:lstStyle/>
          <a:p>
            <a:pPr algn="l" indent="0" marL="0">
              <a:lnSpc>
                <a:spcPct val="105000"/>
              </a:lnSpc>
              <a:buNone/>
            </a:pPr>
            <a:r>
              <a:rPr lang="en-US" sz="3400" i="1" dirty="0">
                <a:solidFill>
                  <a:srgbClr val="161B22"/>
                </a:solidFill>
                <a:latin typeface="Cambria" pitchFamily="34" charset="0"/>
                <a:ea typeface="Cambria" pitchFamily="34" charset="-122"/>
                <a:cs typeface="Cambria" pitchFamily="34" charset="-120"/>
              </a:rPr>
              <a:t>Representation inversion cannot ask it</a:t>
            </a:r>
            <a:endParaRPr lang="en-US" sz="3400" dirty="0"/>
          </a:p>
        </p:txBody>
      </p:sp>
      <p:sp>
        <p:nvSpPr>
          <p:cNvPr id="4" name="Text 2"/>
          <p:cNvSpPr txBox="1"/>
          <p:nvPr/>
        </p:nvSpPr>
        <p:spPr>
          <a:xfrm>
            <a:off x="685800" y="2286000"/>
            <a:ext cx="4998568" cy="411480"/>
          </a:xfrm>
          <a:prstGeom prst="rect">
            <a:avLst/>
          </a:prstGeom>
          <a:noFill/>
          <a:ln/>
        </p:spPr>
        <p:txBody>
          <a:bodyPr wrap="square" lIns="0" tIns="0" rIns="0" bIns="0" rtlCol="0" anchor="ctr"/>
          <a:lstStyle/>
          <a:p>
            <a:pPr indent="0" marL="0">
              <a:buNone/>
            </a:pPr>
            <a:r>
              <a:rPr lang="en-US" sz="2000" b="1" dirty="0">
                <a:solidFill>
                  <a:srgbClr val="161B22"/>
                </a:solidFill>
                <a:latin typeface="Calibri" pitchFamily="34" charset="0"/>
                <a:ea typeface="Calibri" pitchFamily="34" charset="-122"/>
                <a:cs typeface="Calibri" pitchFamily="34" charset="-120"/>
              </a:rPr>
              <a:t>What prior methods do</a:t>
            </a:r>
            <a:endParaRPr lang="en-US" sz="2000" dirty="0"/>
          </a:p>
        </p:txBody>
      </p:sp>
      <p:sp>
        <p:nvSpPr>
          <p:cNvPr id="5" name="Text 3"/>
          <p:cNvSpPr txBox="1"/>
          <p:nvPr/>
        </p:nvSpPr>
        <p:spPr>
          <a:xfrm>
            <a:off x="685800" y="2788920"/>
            <a:ext cx="4998568" cy="1371600"/>
          </a:xfrm>
          <a:prstGeom prst="rect">
            <a:avLst/>
          </a:prstGeom>
          <a:noFill/>
          <a:ln/>
        </p:spPr>
        <p:txBody>
          <a:bodyPr wrap="square" lIns="0" tIns="0" rIns="0" bIns="0" rtlCol="0" anchor="ctr"/>
          <a:lstStyle/>
          <a:p>
            <a:pPr indent="0" marL="0">
              <a:lnSpc>
                <a:spcPct val="140000"/>
              </a:lnSpc>
              <a:buNone/>
            </a:pPr>
            <a:r>
              <a:rPr lang="en-US" sz="1400" dirty="0">
                <a:solidFill>
                  <a:srgbClr val="5B6472"/>
                </a:solidFill>
                <a:latin typeface="Calibri" pitchFamily="34" charset="0"/>
                <a:ea typeface="Calibri" pitchFamily="34" charset="-122"/>
                <a:cs typeface="Calibri" pitchFamily="34" charset="-120"/>
              </a:rPr>
              <a:t>Mahendran &amp; Vedaldi, Nash et al., FAE, DPS, SPADE, Neuralangelo, GeoDE all invert the latent of an image that already exists, and all are built to reconstruct it as well as possible.</a:t>
            </a:r>
            <a:endParaRPr lang="en-US" sz="1400" dirty="0"/>
          </a:p>
        </p:txBody>
      </p:sp>
      <p:sp>
        <p:nvSpPr>
          <p:cNvPr id="6" name="Text 4"/>
          <p:cNvSpPr txBox="1"/>
          <p:nvPr/>
        </p:nvSpPr>
        <p:spPr>
          <a:xfrm>
            <a:off x="685800" y="4206240"/>
            <a:ext cx="4998568" cy="914400"/>
          </a:xfrm>
          <a:prstGeom prst="rect">
            <a:avLst/>
          </a:prstGeom>
          <a:noFill/>
          <a:ln/>
        </p:spPr>
        <p:txBody>
          <a:bodyPr wrap="square" lIns="0" tIns="0" rIns="0" bIns="0" rtlCol="0" anchor="ctr"/>
          <a:lstStyle/>
          <a:p>
            <a:pPr indent="0" marL="0">
              <a:lnSpc>
                <a:spcPct val="140000"/>
              </a:lnSpc>
              <a:buNone/>
            </a:pPr>
            <a:r>
              <a:rPr lang="en-US" sz="1400" dirty="0">
                <a:solidFill>
                  <a:srgbClr val="5B6472"/>
                </a:solidFill>
                <a:latin typeface="Calibri" pitchFamily="34" charset="0"/>
                <a:ea typeface="Calibri" pitchFamily="34" charset="-122"/>
                <a:cs typeface="Calibri" pitchFamily="34" charset="-120"/>
              </a:rPr>
              <a:t>Their success criterion is fidelity. A stronger decoder is always better.</a:t>
            </a:r>
            <a:endParaRPr lang="en-US" sz="1400" dirty="0"/>
          </a:p>
        </p:txBody>
      </p:sp>
      <p:sp>
        <p:nvSpPr>
          <p:cNvPr id="7" name="Text 5"/>
          <p:cNvSpPr txBox="1"/>
          <p:nvPr/>
        </p:nvSpPr>
        <p:spPr>
          <a:xfrm>
            <a:off x="6507328" y="2286000"/>
            <a:ext cx="4998568" cy="411480"/>
          </a:xfrm>
          <a:prstGeom prst="rect">
            <a:avLst/>
          </a:prstGeom>
          <a:noFill/>
          <a:ln/>
        </p:spPr>
        <p:txBody>
          <a:bodyPr wrap="square" lIns="0" tIns="0" rIns="0" bIns="0" rtlCol="0" anchor="ctr"/>
          <a:lstStyle/>
          <a:p>
            <a:pPr indent="0" marL="0">
              <a:buNone/>
            </a:pPr>
            <a:r>
              <a:rPr lang="en-US" sz="2000" b="1" dirty="0">
                <a:solidFill>
                  <a:srgbClr val="161B22"/>
                </a:solidFill>
                <a:latin typeface="Calibri" pitchFamily="34" charset="0"/>
                <a:ea typeface="Calibri" pitchFamily="34" charset="-122"/>
                <a:cs typeface="Calibri" pitchFamily="34" charset="-120"/>
              </a:rPr>
              <a:t>What we need instead</a:t>
            </a:r>
            <a:endParaRPr lang="en-US" sz="2000" dirty="0"/>
          </a:p>
        </p:txBody>
      </p:sp>
      <p:sp>
        <p:nvSpPr>
          <p:cNvPr id="8" name="Text 6"/>
          <p:cNvSpPr txBox="1"/>
          <p:nvPr/>
        </p:nvSpPr>
        <p:spPr>
          <a:xfrm>
            <a:off x="6507328" y="2788920"/>
            <a:ext cx="4998568" cy="1371600"/>
          </a:xfrm>
          <a:prstGeom prst="rect">
            <a:avLst/>
          </a:prstGeom>
          <a:noFill/>
          <a:ln/>
        </p:spPr>
        <p:txBody>
          <a:bodyPr wrap="square" lIns="0" tIns="0" rIns="0" bIns="0" rtlCol="0" anchor="ctr"/>
          <a:lstStyle/>
          <a:p>
            <a:pPr indent="0" marL="0">
              <a:lnSpc>
                <a:spcPct val="140000"/>
              </a:lnSpc>
              <a:buNone/>
            </a:pPr>
            <a:r>
              <a:rPr lang="en-US" sz="1400" dirty="0">
                <a:solidFill>
                  <a:srgbClr val="5B6472"/>
                </a:solidFill>
                <a:latin typeface="Calibri" pitchFamily="34" charset="0"/>
                <a:ea typeface="Calibri" pitchFamily="34" charset="-122"/>
                <a:cs typeface="Calibri" pitchFamily="34" charset="-120"/>
              </a:rPr>
              <a:t>Invert a rolled-forward latent, for a frame that was never observed, on a frozen model that ships no decoder at all.</a:t>
            </a:r>
            <a:endParaRPr lang="en-US" sz="1400" dirty="0"/>
          </a:p>
        </p:txBody>
      </p:sp>
      <p:sp>
        <p:nvSpPr>
          <p:cNvPr id="9" name="Text 7"/>
          <p:cNvSpPr txBox="1"/>
          <p:nvPr/>
        </p:nvSpPr>
        <p:spPr>
          <a:xfrm>
            <a:off x="6507328" y="4206240"/>
            <a:ext cx="4998568" cy="914400"/>
          </a:xfrm>
          <a:prstGeom prst="rect">
            <a:avLst/>
          </a:prstGeom>
          <a:noFill/>
          <a:ln/>
        </p:spPr>
        <p:txBody>
          <a:bodyPr wrap="square" lIns="0" tIns="0" rIns="0" bIns="0" rtlCol="0" anchor="ctr"/>
          <a:lstStyle/>
          <a:p>
            <a:pPr indent="0" marL="0">
              <a:lnSpc>
                <a:spcPct val="140000"/>
              </a:lnSpc>
              <a:buNone/>
            </a:pPr>
            <a:r>
              <a:rPr lang="en-US" sz="1400" b="1" dirty="0">
                <a:solidFill>
                  <a:srgbClr val="161B22"/>
                </a:solidFill>
                <a:latin typeface="Calibri" pitchFamily="34" charset="0"/>
                <a:ea typeface="Calibri" pitchFamily="34" charset="-122"/>
                <a:cs typeface="Calibri" pitchFamily="34" charset="-120"/>
              </a:rPr>
              <a:t>Here a stronger decoder is worse. It would paint in detail the latent never carried, and hide the very failure we are looking for.</a:t>
            </a:r>
            <a:endParaRPr lang="en-US" sz="1400" dirty="0"/>
          </a:p>
        </p:txBody>
      </p:sp>
      <p:sp>
        <p:nvSpPr>
          <p:cNvPr id="10" name="Text 8"/>
          <p:cNvSpPr txBox="1"/>
          <p:nvPr/>
        </p:nvSpPr>
        <p:spPr>
          <a:xfrm>
            <a:off x="685800" y="6199632"/>
            <a:ext cx="5486400" cy="274320"/>
          </a:xfrm>
          <a:prstGeom prst="rect">
            <a:avLst/>
          </a:prstGeom>
          <a:noFill/>
          <a:ln/>
        </p:spPr>
        <p:txBody>
          <a:bodyPr wrap="square" lIns="0" tIns="0" rIns="0" bIns="0" rtlCol="0" anchor="ctr"/>
          <a:lstStyle/>
          <a:p>
            <a:pPr algn="l" indent="0" marL="0">
              <a:buNone/>
            </a:pPr>
            <a:r>
              <a:rPr lang="en-US" sz="1000" dirty="0">
                <a:solidFill>
                  <a:srgbClr val="7C8794"/>
                </a:solidFill>
                <a:latin typeface="Courier New" pitchFamily="34" charset="0"/>
                <a:ea typeface="Courier New" pitchFamily="34" charset="-122"/>
                <a:cs typeface="Courier New" pitchFamily="34" charset="-120"/>
              </a:rPr>
              <a:t>Prior work</a:t>
            </a:r>
            <a:endParaRPr lang="en-US" sz="1000" dirty="0"/>
          </a:p>
        </p:txBody>
      </p:sp>
      <p:sp>
        <p:nvSpPr>
          <p:cNvPr id="11" name="Text 9"/>
          <p:cNvSpPr txBox="1"/>
          <p:nvPr/>
        </p:nvSpPr>
        <p:spPr>
          <a:xfrm>
            <a:off x="9677095" y="6199632"/>
            <a:ext cx="1828800" cy="274320"/>
          </a:xfrm>
          <a:prstGeom prst="rect">
            <a:avLst/>
          </a:prstGeom>
          <a:noFill/>
          <a:ln/>
        </p:spPr>
        <p:txBody>
          <a:bodyPr wrap="square" lIns="0" tIns="0" rIns="0" bIns="0" rtlCol="0" anchor="ctr"/>
          <a:lstStyle/>
          <a:p>
            <a:pPr algn="r" indent="0" marL="0">
              <a:buNone/>
            </a:pPr>
            <a:r>
              <a:rPr lang="en-US" sz="1000" dirty="0">
                <a:solidFill>
                  <a:srgbClr val="7C8794"/>
                </a:solidFill>
                <a:latin typeface="Courier New" pitchFamily="34" charset="0"/>
                <a:ea typeface="Courier New" pitchFamily="34" charset="-122"/>
                <a:cs typeface="Courier New"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406F"/>
        </a:solidFill>
      </p:bgPr>
    </p:bg>
    <p:spTree>
      <p:nvGrpSpPr>
        <p:cNvPr id="1" name=""/>
        <p:cNvGrpSpPr/>
        <p:nvPr/>
      </p:nvGrpSpPr>
      <p:grpSpPr>
        <a:xfrm>
          <a:off x="0" y="0"/>
          <a:ext cx="0" cy="0"/>
          <a:chOff x="0" y="0"/>
          <a:chExt cx="0" cy="0"/>
        </a:xfrm>
      </p:grpSpPr>
      <p:sp>
        <p:nvSpPr>
          <p:cNvPr id="2" name="Text 0"/>
          <p:cNvSpPr txBox="1"/>
          <p:nvPr/>
        </p:nvSpPr>
        <p:spPr>
          <a:xfrm>
            <a:off x="685800" y="1234440"/>
            <a:ext cx="10820095" cy="274320"/>
          </a:xfrm>
          <a:prstGeom prst="rect">
            <a:avLst/>
          </a:prstGeom>
          <a:noFill/>
          <a:ln/>
        </p:spPr>
        <p:txBody>
          <a:bodyPr wrap="square" lIns="0" tIns="0" rIns="0" bIns="0" rtlCol="0" anchor="ctr"/>
          <a:lstStyle/>
          <a:p>
            <a:pPr indent="0" marL="0">
              <a:buNone/>
            </a:pPr>
            <a:r>
              <a:rPr lang="en-US" sz="1200" spc="200" kern="0" dirty="0">
                <a:solidFill>
                  <a:srgbClr val="9EC4EE"/>
                </a:solidFill>
                <a:latin typeface="Courier New" pitchFamily="34" charset="0"/>
                <a:ea typeface="Courier New" pitchFamily="34" charset="-122"/>
                <a:cs typeface="Courier New" pitchFamily="34" charset="-120"/>
              </a:rPr>
              <a:t>THE MOVE</a:t>
            </a:r>
            <a:endParaRPr lang="en-US" sz="1200" dirty="0"/>
          </a:p>
        </p:txBody>
      </p:sp>
      <p:sp>
        <p:nvSpPr>
          <p:cNvPr id="3" name="Text 1"/>
          <p:cNvSpPr txBox="1"/>
          <p:nvPr/>
        </p:nvSpPr>
        <p:spPr>
          <a:xfrm>
            <a:off x="685800" y="1783080"/>
            <a:ext cx="10607040" cy="1737360"/>
          </a:xfrm>
          <a:prstGeom prst="rect">
            <a:avLst/>
          </a:prstGeom>
          <a:noFill/>
          <a:ln/>
        </p:spPr>
        <p:txBody>
          <a:bodyPr wrap="square" lIns="0" tIns="0" rIns="0" bIns="0" rtlCol="0" anchor="ctr"/>
          <a:lstStyle/>
          <a:p>
            <a:pPr indent="0" marL="0">
              <a:lnSpc>
                <a:spcPct val="106000"/>
              </a:lnSpc>
              <a:buNone/>
            </a:pPr>
            <a:r>
              <a:rPr lang="en-US" sz="4600" i="1" dirty="0">
                <a:solidFill>
                  <a:srgbClr val="EAF2FC"/>
                </a:solidFill>
                <a:latin typeface="Cambria" pitchFamily="34" charset="0"/>
                <a:ea typeface="Cambria" pitchFamily="34" charset="-122"/>
                <a:cs typeface="Cambria" pitchFamily="34" charset="-120"/>
              </a:rPr>
              <a:t>Trade decode quality for decode honesty.</a:t>
            </a:r>
            <a:endParaRPr lang="en-US" sz="4600" dirty="0"/>
          </a:p>
        </p:txBody>
      </p:sp>
      <p:sp>
        <p:nvSpPr>
          <p:cNvPr id="4" name="Text 2"/>
          <p:cNvSpPr txBox="1"/>
          <p:nvPr/>
        </p:nvSpPr>
        <p:spPr>
          <a:xfrm>
            <a:off x="685800" y="3566160"/>
            <a:ext cx="9692640" cy="1280160"/>
          </a:xfrm>
          <a:prstGeom prst="rect">
            <a:avLst/>
          </a:prstGeom>
          <a:noFill/>
          <a:ln/>
        </p:spPr>
        <p:txBody>
          <a:bodyPr wrap="square" lIns="0" tIns="0" rIns="0" bIns="0" rtlCol="0" anchor="ctr"/>
          <a:lstStyle/>
          <a:p>
            <a:pPr indent="0" marL="0">
              <a:lnSpc>
                <a:spcPct val="140000"/>
              </a:lnSpc>
              <a:buNone/>
            </a:pPr>
            <a:r>
              <a:rPr lang="en-US" sz="1800" dirty="0">
                <a:solidFill>
                  <a:srgbClr val="C5DAF3"/>
                </a:solidFill>
                <a:latin typeface="Calibri" pitchFamily="34" charset="0"/>
                <a:ea typeface="Calibri" pitchFamily="34" charset="-122"/>
                <a:cs typeface="Calibri" pitchFamily="34" charset="-120"/>
              </a:rPr>
              <a:t>One linear layer per token. Plain pixel loss. No perceptual, adversarial or diffusion objective. Patch j of the output is a function of token j and nothing else, so there is nowhere for invented detail to come from.</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1F4"/>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74320"/>
          </a:xfrm>
          <a:prstGeom prst="rect">
            <a:avLst/>
          </a:prstGeom>
          <a:noFill/>
          <a:ln/>
        </p:spPr>
        <p:txBody>
          <a:bodyPr wrap="square" lIns="0" tIns="0" rIns="0" bIns="0" rtlCol="0" anchor="ctr"/>
          <a:lstStyle/>
          <a:p>
            <a:pPr algn="l" indent="0" marL="0">
              <a:buNone/>
            </a:pPr>
            <a:r>
              <a:rPr lang="en-US" sz="1100" spc="200" kern="0" dirty="0">
                <a:solidFill>
                  <a:srgbClr val="5B6472"/>
                </a:solidFill>
                <a:latin typeface="Courier New" pitchFamily="34" charset="0"/>
                <a:ea typeface="Courier New" pitchFamily="34" charset="-122"/>
                <a:cs typeface="Courier New" pitchFamily="34" charset="-120"/>
              </a:rPr>
              <a:t>THE SYSTEM</a:t>
            </a:r>
            <a:endParaRPr lang="en-US" sz="1100" dirty="0"/>
          </a:p>
        </p:txBody>
      </p:sp>
      <p:sp>
        <p:nvSpPr>
          <p:cNvPr id="3" name="Text 1"/>
          <p:cNvSpPr txBox="1"/>
          <p:nvPr/>
        </p:nvSpPr>
        <p:spPr>
          <a:xfrm>
            <a:off x="685800" y="841248"/>
            <a:ext cx="10820095" cy="548640"/>
          </a:xfrm>
          <a:prstGeom prst="rect">
            <a:avLst/>
          </a:prstGeom>
          <a:noFill/>
          <a:ln/>
        </p:spPr>
        <p:txBody>
          <a:bodyPr wrap="square" lIns="0" tIns="0" rIns="0" bIns="0" rtlCol="0" anchor="ctr"/>
          <a:lstStyle/>
          <a:p>
            <a:pPr indent="0" marL="0">
              <a:buNone/>
            </a:pPr>
            <a:r>
              <a:rPr lang="en-US" sz="2800" i="1" dirty="0">
                <a:solidFill>
                  <a:srgbClr val="161B22"/>
                </a:solidFill>
                <a:latin typeface="Cambria" pitchFamily="34" charset="0"/>
                <a:ea typeface="Cambria" pitchFamily="34" charset="-122"/>
                <a:cs typeface="Cambria" pitchFamily="34" charset="-120"/>
              </a:rPr>
              <a:t>One pass of the protocol</a:t>
            </a:r>
            <a:endParaRPr lang="en-US" sz="2800" dirty="0"/>
          </a:p>
        </p:txBody>
      </p:sp>
      <p:pic>
        <p:nvPicPr>
          <p:cNvPr id="4" name="Image 0" descr="The Horizon Ladder pipeline: causal window, frozen encoder, frozen predictor queried out of distribution, minimal decoder, compare; a ground truth branch, an admissibility box of decoder floor, leakage and snapping checks, a re-injection loop, and a strip of failed latent-only proxies.">    </p:cNvPr>
          <p:cNvPicPr>
            <a:picLocks noChangeAspect="1"/>
          </p:cNvPicPr>
          <p:nvPr/>
        </p:nvPicPr>
        <p:blipFill>
          <a:blip r:embed="rId1"/>
          <a:stretch>
            <a:fillRect/>
          </a:stretch>
        </p:blipFill>
        <p:spPr>
          <a:xfrm>
            <a:off x="685800" y="1508760"/>
            <a:ext cx="10820095" cy="3703320"/>
          </a:xfrm>
          <a:prstGeom prst="rect">
            <a:avLst/>
          </a:prstGeom>
        </p:spPr>
      </p:pic>
      <p:sp>
        <p:nvSpPr>
          <p:cNvPr id="5" name="Text 2"/>
          <p:cNvSpPr txBox="1"/>
          <p:nvPr/>
        </p:nvSpPr>
        <p:spPr>
          <a:xfrm>
            <a:off x="685800" y="5349240"/>
            <a:ext cx="10241280" cy="548640"/>
          </a:xfrm>
          <a:prstGeom prst="rect">
            <a:avLst/>
          </a:prstGeom>
          <a:noFill/>
          <a:ln/>
        </p:spPr>
        <p:txBody>
          <a:bodyPr wrap="square" lIns="0" tIns="0" rIns="0" bIns="0" rtlCol="0" anchor="ctr"/>
          <a:lstStyle/>
          <a:p>
            <a:pPr indent="0" marL="0">
              <a:lnSpc>
                <a:spcPct val="135000"/>
              </a:lnSpc>
              <a:buNone/>
            </a:pPr>
            <a:r>
              <a:rPr lang="en-US" sz="1300" dirty="0">
                <a:solidFill>
                  <a:srgbClr val="5B6472"/>
                </a:solidFill>
                <a:latin typeface="Calibri" pitchFamily="34" charset="0"/>
                <a:ea typeface="Calibri" pitchFamily="34" charset="-122"/>
                <a:cs typeface="Calibri" pitchFamily="34" charset="-120"/>
              </a:rPr>
              <a:t>Every stage is written against three interfaces, not against V-JEPA2, so any encoder, decoder and state predictor satisfying them runs the same protocol unmodified.</a:t>
            </a:r>
            <a:endParaRPr lang="en-US" sz="1300" dirty="0"/>
          </a:p>
        </p:txBody>
      </p:sp>
      <p:sp>
        <p:nvSpPr>
          <p:cNvPr id="6" name="Text 3"/>
          <p:cNvSpPr txBox="1"/>
          <p:nvPr/>
        </p:nvSpPr>
        <p:spPr>
          <a:xfrm>
            <a:off x="685800" y="6199632"/>
            <a:ext cx="5486400" cy="274320"/>
          </a:xfrm>
          <a:prstGeom prst="rect">
            <a:avLst/>
          </a:prstGeom>
          <a:noFill/>
          <a:ln/>
        </p:spPr>
        <p:txBody>
          <a:bodyPr wrap="square" lIns="0" tIns="0" rIns="0" bIns="0" rtlCol="0" anchor="ctr"/>
          <a:lstStyle/>
          <a:p>
            <a:pPr algn="l" indent="0" marL="0">
              <a:buNone/>
            </a:pPr>
            <a:r>
              <a:rPr lang="en-US" sz="1000" dirty="0">
                <a:solidFill>
                  <a:srgbClr val="7C8794"/>
                </a:solidFill>
                <a:latin typeface="Courier New" pitchFamily="34" charset="0"/>
                <a:ea typeface="Courier New" pitchFamily="34" charset="-122"/>
                <a:cs typeface="Courier New" pitchFamily="34" charset="-120"/>
              </a:rPr>
              <a:t>The system</a:t>
            </a:r>
            <a:endParaRPr lang="en-US" sz="1000" dirty="0"/>
          </a:p>
        </p:txBody>
      </p:sp>
      <p:sp>
        <p:nvSpPr>
          <p:cNvPr id="7" name="Text 4"/>
          <p:cNvSpPr txBox="1"/>
          <p:nvPr/>
        </p:nvSpPr>
        <p:spPr>
          <a:xfrm>
            <a:off x="9677095" y="6199632"/>
            <a:ext cx="1828800" cy="274320"/>
          </a:xfrm>
          <a:prstGeom prst="rect">
            <a:avLst/>
          </a:prstGeom>
          <a:noFill/>
          <a:ln/>
        </p:spPr>
        <p:txBody>
          <a:bodyPr wrap="square" lIns="0" tIns="0" rIns="0" bIns="0" rtlCol="0" anchor="ctr"/>
          <a:lstStyle/>
          <a:p>
            <a:pPr algn="r" indent="0" marL="0">
              <a:buNone/>
            </a:pPr>
            <a:r>
              <a:rPr lang="en-US" sz="1000" dirty="0">
                <a:solidFill>
                  <a:srgbClr val="7C8794"/>
                </a:solidFill>
                <a:latin typeface="Courier New" pitchFamily="34" charset="0"/>
                <a:ea typeface="Courier New" pitchFamily="34" charset="-122"/>
                <a:cs typeface="Courier New"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74320"/>
          </a:xfrm>
          <a:prstGeom prst="rect">
            <a:avLst/>
          </a:prstGeom>
          <a:noFill/>
          <a:ln/>
        </p:spPr>
        <p:txBody>
          <a:bodyPr wrap="square" lIns="0" tIns="0" rIns="0" bIns="0" rtlCol="0" anchor="ctr"/>
          <a:lstStyle/>
          <a:p>
            <a:pPr algn="l" indent="0" marL="0">
              <a:buNone/>
            </a:pPr>
            <a:r>
              <a:rPr lang="en-US" sz="1100" spc="200" kern="0" dirty="0">
                <a:solidFill>
                  <a:srgbClr val="93A0B0"/>
                </a:solidFill>
                <a:latin typeface="Courier New" pitchFamily="34" charset="0"/>
                <a:ea typeface="Courier New" pitchFamily="34" charset="-122"/>
                <a:cs typeface="Courier New" pitchFamily="34" charset="-120"/>
              </a:rPr>
              <a:t>BEFORE ANY RESULT</a:t>
            </a:r>
            <a:endParaRPr lang="en-US" sz="1100" dirty="0"/>
          </a:p>
        </p:txBody>
      </p:sp>
      <p:sp>
        <p:nvSpPr>
          <p:cNvPr id="3" name="Text 1"/>
          <p:cNvSpPr txBox="1"/>
          <p:nvPr/>
        </p:nvSpPr>
        <p:spPr>
          <a:xfrm>
            <a:off x="685800" y="868680"/>
            <a:ext cx="10820095" cy="1051560"/>
          </a:xfrm>
          <a:prstGeom prst="rect">
            <a:avLst/>
          </a:prstGeom>
          <a:noFill/>
          <a:ln/>
        </p:spPr>
        <p:txBody>
          <a:bodyPr wrap="square" lIns="0" tIns="0" rIns="0" bIns="0" rtlCol="0" anchor="t"/>
          <a:lstStyle/>
          <a:p>
            <a:pPr algn="l" indent="0" marL="0">
              <a:lnSpc>
                <a:spcPct val="105000"/>
              </a:lnSpc>
              <a:buNone/>
            </a:pPr>
            <a:r>
              <a:rPr lang="en-US" sz="3000" i="1" dirty="0">
                <a:solidFill>
                  <a:srgbClr val="E7EBF0"/>
                </a:solidFill>
                <a:latin typeface="Cambria" pitchFamily="34" charset="0"/>
                <a:ea typeface="Cambria" pitchFamily="34" charset="-122"/>
                <a:cs typeface="Cambria" pitchFamily="34" charset="-120"/>
              </a:rPr>
              <a:t>Prove the instrument, or the finding is about your decoder</a:t>
            </a:r>
            <a:endParaRPr lang="en-US" sz="3000" dirty="0"/>
          </a:p>
        </p:txBody>
      </p:sp>
      <p:sp>
        <p:nvSpPr>
          <p:cNvPr id="4" name="Shape 2"/>
          <p:cNvSpPr/>
          <p:nvPr/>
        </p:nvSpPr>
        <p:spPr>
          <a:xfrm>
            <a:off x="685800" y="2103120"/>
            <a:ext cx="3423818" cy="2514600"/>
          </a:xfrm>
          <a:prstGeom prst="roundRect">
            <a:avLst>
              <a:gd name="adj" fmla="val 2909"/>
            </a:avLst>
          </a:prstGeom>
          <a:solidFill>
            <a:srgbClr val="1A2029"/>
          </a:solidFill>
          <a:ln w="9525">
            <a:solidFill>
              <a:srgbClr val="2C3440"/>
            </a:solidFill>
            <a:prstDash val="solid"/>
          </a:ln>
        </p:spPr>
      </p:sp>
      <p:sp>
        <p:nvSpPr>
          <p:cNvPr id="5" name="Text 3"/>
          <p:cNvSpPr txBox="1"/>
          <p:nvPr/>
        </p:nvSpPr>
        <p:spPr>
          <a:xfrm>
            <a:off x="960120" y="2304288"/>
            <a:ext cx="2875178" cy="237744"/>
          </a:xfrm>
          <a:prstGeom prst="rect">
            <a:avLst/>
          </a:prstGeom>
          <a:noFill/>
          <a:ln/>
        </p:spPr>
        <p:txBody>
          <a:bodyPr wrap="square" lIns="0" tIns="0" rIns="0" bIns="0" rtlCol="0" anchor="ctr"/>
          <a:lstStyle/>
          <a:p>
            <a:pPr indent="0" marL="0">
              <a:buNone/>
            </a:pPr>
            <a:r>
              <a:rPr lang="en-US" sz="1100" dirty="0">
                <a:solidFill>
                  <a:srgbClr val="93A0B0"/>
                </a:solidFill>
                <a:latin typeface="Courier New" pitchFamily="34" charset="0"/>
                <a:ea typeface="Courier New" pitchFamily="34" charset="-122"/>
                <a:cs typeface="Courier New" pitchFamily="34" charset="-120"/>
              </a:rPr>
              <a:t>Check 1</a:t>
            </a:r>
            <a:endParaRPr lang="en-US" sz="1100" dirty="0"/>
          </a:p>
        </p:txBody>
      </p:sp>
      <p:sp>
        <p:nvSpPr>
          <p:cNvPr id="6" name="Text 4"/>
          <p:cNvSpPr txBox="1"/>
          <p:nvPr/>
        </p:nvSpPr>
        <p:spPr>
          <a:xfrm>
            <a:off x="960120" y="2596896"/>
            <a:ext cx="2875178" cy="329184"/>
          </a:xfrm>
          <a:prstGeom prst="rect">
            <a:avLst/>
          </a:prstGeom>
          <a:noFill/>
          <a:ln/>
        </p:spPr>
        <p:txBody>
          <a:bodyPr wrap="square" lIns="0" tIns="0" rIns="0" bIns="0" rtlCol="0" anchor="ctr"/>
          <a:lstStyle/>
          <a:p>
            <a:pPr indent="0" marL="0">
              <a:buNone/>
            </a:pPr>
            <a:r>
              <a:rPr lang="en-US" sz="1700" b="1" dirty="0">
                <a:solidFill>
                  <a:srgbClr val="E7EBF0"/>
                </a:solidFill>
                <a:latin typeface="Calibri" pitchFamily="34" charset="0"/>
                <a:ea typeface="Calibri" pitchFamily="34" charset="-122"/>
                <a:cs typeface="Calibri" pitchFamily="34" charset="-120"/>
              </a:rPr>
              <a:t>Context leakage</a:t>
            </a:r>
            <a:endParaRPr lang="en-US" sz="1700" dirty="0"/>
          </a:p>
        </p:txBody>
      </p:sp>
      <p:sp>
        <p:nvSpPr>
          <p:cNvPr id="7" name="Text 5"/>
          <p:cNvSpPr txBox="1"/>
          <p:nvPr/>
        </p:nvSpPr>
        <p:spPr>
          <a:xfrm>
            <a:off x="960120" y="2999232"/>
            <a:ext cx="2875178" cy="1097280"/>
          </a:xfrm>
          <a:prstGeom prst="rect">
            <a:avLst/>
          </a:prstGeom>
          <a:noFill/>
          <a:ln/>
        </p:spPr>
        <p:txBody>
          <a:bodyPr wrap="square" lIns="0" tIns="0" rIns="0" bIns="0" rtlCol="0" anchor="ctr"/>
          <a:lstStyle/>
          <a:p>
            <a:pPr indent="0" marL="0">
              <a:lnSpc>
                <a:spcPct val="130000"/>
              </a:lnSpc>
              <a:buNone/>
            </a:pPr>
            <a:r>
              <a:rPr lang="en-US" sz="1250" dirty="0">
                <a:solidFill>
                  <a:srgbClr val="93A0B0"/>
                </a:solidFill>
                <a:latin typeface="Calibri" pitchFamily="34" charset="0"/>
                <a:ea typeface="Calibri" pitchFamily="34" charset="-122"/>
                <a:cs typeface="Calibri" pitchFamily="34" charset="-120"/>
              </a:rPr>
              <a:t>Decode clip A and compare against clip A and an unrelated clip B. A decoder ignoring its input scores the same on both.</a:t>
            </a:r>
            <a:endParaRPr lang="en-US" sz="1250" dirty="0"/>
          </a:p>
        </p:txBody>
      </p:sp>
      <p:sp>
        <p:nvSpPr>
          <p:cNvPr id="8" name="Text 6"/>
          <p:cNvSpPr txBox="1"/>
          <p:nvPr/>
        </p:nvSpPr>
        <p:spPr>
          <a:xfrm>
            <a:off x="960120" y="4169664"/>
            <a:ext cx="2875178" cy="292608"/>
          </a:xfrm>
          <a:prstGeom prst="rect">
            <a:avLst/>
          </a:prstGeom>
          <a:noFill/>
          <a:ln/>
        </p:spPr>
        <p:txBody>
          <a:bodyPr wrap="square" lIns="0" tIns="0" rIns="0" bIns="0" rtlCol="0" anchor="ctr"/>
          <a:lstStyle/>
          <a:p>
            <a:pPr indent="0" marL="0">
              <a:buNone/>
            </a:pPr>
            <a:r>
              <a:rPr lang="en-US" sz="1300" b="1" dirty="0">
                <a:solidFill>
                  <a:srgbClr val="6FC791"/>
                </a:solidFill>
                <a:latin typeface="Calibri" pitchFamily="34" charset="0"/>
                <a:ea typeface="Calibri" pitchFamily="34" charset="-122"/>
                <a:cs typeface="Calibri" pitchFamily="34" charset="-120"/>
              </a:rPr>
              <a:t>Passes: gap +0.15</a:t>
            </a:r>
            <a:endParaRPr lang="en-US" sz="1300" dirty="0"/>
          </a:p>
        </p:txBody>
      </p:sp>
      <p:sp>
        <p:nvSpPr>
          <p:cNvPr id="9" name="Shape 7"/>
          <p:cNvSpPr/>
          <p:nvPr/>
        </p:nvSpPr>
        <p:spPr>
          <a:xfrm>
            <a:off x="4383938" y="2103120"/>
            <a:ext cx="3423818" cy="2514600"/>
          </a:xfrm>
          <a:prstGeom prst="roundRect">
            <a:avLst>
              <a:gd name="adj" fmla="val 2909"/>
            </a:avLst>
          </a:prstGeom>
          <a:solidFill>
            <a:srgbClr val="1A2029"/>
          </a:solidFill>
          <a:ln w="9525">
            <a:solidFill>
              <a:srgbClr val="2C3440"/>
            </a:solidFill>
            <a:prstDash val="solid"/>
          </a:ln>
        </p:spPr>
      </p:sp>
      <p:sp>
        <p:nvSpPr>
          <p:cNvPr id="10" name="Text 8"/>
          <p:cNvSpPr txBox="1"/>
          <p:nvPr/>
        </p:nvSpPr>
        <p:spPr>
          <a:xfrm>
            <a:off x="4658258" y="2304288"/>
            <a:ext cx="2875178" cy="237744"/>
          </a:xfrm>
          <a:prstGeom prst="rect">
            <a:avLst/>
          </a:prstGeom>
          <a:noFill/>
          <a:ln/>
        </p:spPr>
        <p:txBody>
          <a:bodyPr wrap="square" lIns="0" tIns="0" rIns="0" bIns="0" rtlCol="0" anchor="ctr"/>
          <a:lstStyle/>
          <a:p>
            <a:pPr indent="0" marL="0">
              <a:buNone/>
            </a:pPr>
            <a:r>
              <a:rPr lang="en-US" sz="1100" dirty="0">
                <a:solidFill>
                  <a:srgbClr val="93A0B0"/>
                </a:solidFill>
                <a:latin typeface="Courier New" pitchFamily="34" charset="0"/>
                <a:ea typeface="Courier New" pitchFamily="34" charset="-122"/>
                <a:cs typeface="Courier New" pitchFamily="34" charset="-120"/>
              </a:rPr>
              <a:t>Check 2</a:t>
            </a:r>
            <a:endParaRPr lang="en-US" sz="1100" dirty="0"/>
          </a:p>
        </p:txBody>
      </p:sp>
      <p:sp>
        <p:nvSpPr>
          <p:cNvPr id="11" name="Text 9"/>
          <p:cNvSpPr txBox="1"/>
          <p:nvPr/>
        </p:nvSpPr>
        <p:spPr>
          <a:xfrm>
            <a:off x="4658258" y="2596896"/>
            <a:ext cx="2875178" cy="329184"/>
          </a:xfrm>
          <a:prstGeom prst="rect">
            <a:avLst/>
          </a:prstGeom>
          <a:noFill/>
          <a:ln/>
        </p:spPr>
        <p:txBody>
          <a:bodyPr wrap="square" lIns="0" tIns="0" rIns="0" bIns="0" rtlCol="0" anchor="ctr"/>
          <a:lstStyle/>
          <a:p>
            <a:pPr indent="0" marL="0">
              <a:buNone/>
            </a:pPr>
            <a:r>
              <a:rPr lang="en-US" sz="1700" b="1" dirty="0">
                <a:solidFill>
                  <a:srgbClr val="E7EBF0"/>
                </a:solidFill>
                <a:latin typeface="Calibri" pitchFamily="34" charset="0"/>
                <a:ea typeface="Calibri" pitchFamily="34" charset="-122"/>
                <a:cs typeface="Calibri" pitchFamily="34" charset="-120"/>
              </a:rPr>
              <a:t>Snapping</a:t>
            </a:r>
            <a:endParaRPr lang="en-US" sz="1700" dirty="0"/>
          </a:p>
        </p:txBody>
      </p:sp>
      <p:sp>
        <p:nvSpPr>
          <p:cNvPr id="12" name="Text 10"/>
          <p:cNvSpPr txBox="1"/>
          <p:nvPr/>
        </p:nvSpPr>
        <p:spPr>
          <a:xfrm>
            <a:off x="4658258" y="2999232"/>
            <a:ext cx="2875178" cy="1097280"/>
          </a:xfrm>
          <a:prstGeom prst="rect">
            <a:avLst/>
          </a:prstGeom>
          <a:noFill/>
          <a:ln/>
        </p:spPr>
        <p:txBody>
          <a:bodyPr wrap="square" lIns="0" tIns="0" rIns="0" bIns="0" rtlCol="0" anchor="ctr"/>
          <a:lstStyle/>
          <a:p>
            <a:pPr indent="0" marL="0">
              <a:lnSpc>
                <a:spcPct val="130000"/>
              </a:lnSpc>
              <a:buNone/>
            </a:pPr>
            <a:r>
              <a:rPr lang="en-US" sz="1250" dirty="0">
                <a:solidFill>
                  <a:srgbClr val="93A0B0"/>
                </a:solidFill>
                <a:latin typeface="Calibri" pitchFamily="34" charset="0"/>
                <a:ea typeface="Calibri" pitchFamily="34" charset="-122"/>
                <a:cs typeface="Calibri" pitchFamily="34" charset="-120"/>
              </a:rPr>
              <a:t>Slide between two real latents. A decoder that snaps to one memorised frame shows a plateau then a jump, not smooth decay.</a:t>
            </a:r>
            <a:endParaRPr lang="en-US" sz="1250" dirty="0"/>
          </a:p>
        </p:txBody>
      </p:sp>
      <p:sp>
        <p:nvSpPr>
          <p:cNvPr id="13" name="Text 11"/>
          <p:cNvSpPr txBox="1"/>
          <p:nvPr/>
        </p:nvSpPr>
        <p:spPr>
          <a:xfrm>
            <a:off x="4658258" y="4169664"/>
            <a:ext cx="2875178" cy="292608"/>
          </a:xfrm>
          <a:prstGeom prst="rect">
            <a:avLst/>
          </a:prstGeom>
          <a:noFill/>
          <a:ln/>
        </p:spPr>
        <p:txBody>
          <a:bodyPr wrap="square" lIns="0" tIns="0" rIns="0" bIns="0" rtlCol="0" anchor="ctr"/>
          <a:lstStyle/>
          <a:p>
            <a:pPr indent="0" marL="0">
              <a:buNone/>
            </a:pPr>
            <a:r>
              <a:rPr lang="en-US" sz="1300" b="1" dirty="0">
                <a:solidFill>
                  <a:srgbClr val="6FC791"/>
                </a:solidFill>
                <a:latin typeface="Calibri" pitchFamily="34" charset="0"/>
                <a:ea typeface="Calibri" pitchFamily="34" charset="-122"/>
                <a:cs typeface="Calibri" pitchFamily="34" charset="-120"/>
              </a:rPr>
              <a:t>Passes: no curvature spike</a:t>
            </a:r>
            <a:endParaRPr lang="en-US" sz="1300" dirty="0"/>
          </a:p>
        </p:txBody>
      </p:sp>
      <p:sp>
        <p:nvSpPr>
          <p:cNvPr id="14" name="Shape 12"/>
          <p:cNvSpPr/>
          <p:nvPr/>
        </p:nvSpPr>
        <p:spPr>
          <a:xfrm>
            <a:off x="8082077" y="2103120"/>
            <a:ext cx="3423818" cy="2514600"/>
          </a:xfrm>
          <a:prstGeom prst="roundRect">
            <a:avLst>
              <a:gd name="adj" fmla="val 2909"/>
            </a:avLst>
          </a:prstGeom>
          <a:solidFill>
            <a:srgbClr val="1A2029"/>
          </a:solidFill>
          <a:ln w="9525">
            <a:solidFill>
              <a:srgbClr val="2C3440"/>
            </a:solidFill>
            <a:prstDash val="solid"/>
          </a:ln>
        </p:spPr>
      </p:sp>
      <p:sp>
        <p:nvSpPr>
          <p:cNvPr id="15" name="Text 13"/>
          <p:cNvSpPr txBox="1"/>
          <p:nvPr/>
        </p:nvSpPr>
        <p:spPr>
          <a:xfrm>
            <a:off x="8356397" y="2304288"/>
            <a:ext cx="2875178" cy="237744"/>
          </a:xfrm>
          <a:prstGeom prst="rect">
            <a:avLst/>
          </a:prstGeom>
          <a:noFill/>
          <a:ln/>
        </p:spPr>
        <p:txBody>
          <a:bodyPr wrap="square" lIns="0" tIns="0" rIns="0" bIns="0" rtlCol="0" anchor="ctr"/>
          <a:lstStyle/>
          <a:p>
            <a:pPr indent="0" marL="0">
              <a:buNone/>
            </a:pPr>
            <a:r>
              <a:rPr lang="en-US" sz="1100" dirty="0">
                <a:solidFill>
                  <a:srgbClr val="93A0B0"/>
                </a:solidFill>
                <a:latin typeface="Courier New" pitchFamily="34" charset="0"/>
                <a:ea typeface="Courier New" pitchFamily="34" charset="-122"/>
                <a:cs typeface="Courier New" pitchFamily="34" charset="-120"/>
              </a:rPr>
              <a:t>Check 3</a:t>
            </a:r>
            <a:endParaRPr lang="en-US" sz="1100" dirty="0"/>
          </a:p>
        </p:txBody>
      </p:sp>
      <p:sp>
        <p:nvSpPr>
          <p:cNvPr id="16" name="Text 14"/>
          <p:cNvSpPr txBox="1"/>
          <p:nvPr/>
        </p:nvSpPr>
        <p:spPr>
          <a:xfrm>
            <a:off x="8356397" y="2596896"/>
            <a:ext cx="2875178" cy="329184"/>
          </a:xfrm>
          <a:prstGeom prst="rect">
            <a:avLst/>
          </a:prstGeom>
          <a:noFill/>
          <a:ln/>
        </p:spPr>
        <p:txBody>
          <a:bodyPr wrap="square" lIns="0" tIns="0" rIns="0" bIns="0" rtlCol="0" anchor="ctr"/>
          <a:lstStyle/>
          <a:p>
            <a:pPr indent="0" marL="0">
              <a:buNone/>
            </a:pPr>
            <a:r>
              <a:rPr lang="en-US" sz="1700" b="1" dirty="0">
                <a:solidFill>
                  <a:srgbClr val="E7EBF0"/>
                </a:solidFill>
                <a:latin typeface="Calibri" pitchFamily="34" charset="0"/>
                <a:ea typeface="Calibri" pitchFamily="34" charset="-122"/>
                <a:cs typeface="Calibri" pitchFamily="34" charset="-120"/>
              </a:rPr>
              <a:t>The floor</a:t>
            </a:r>
            <a:endParaRPr lang="en-US" sz="1700" dirty="0"/>
          </a:p>
        </p:txBody>
      </p:sp>
      <p:sp>
        <p:nvSpPr>
          <p:cNvPr id="17" name="Text 15"/>
          <p:cNvSpPr txBox="1"/>
          <p:nvPr/>
        </p:nvSpPr>
        <p:spPr>
          <a:xfrm>
            <a:off x="8356397" y="2999232"/>
            <a:ext cx="2875178" cy="1097280"/>
          </a:xfrm>
          <a:prstGeom prst="rect">
            <a:avLst/>
          </a:prstGeom>
          <a:noFill/>
          <a:ln/>
        </p:spPr>
        <p:txBody>
          <a:bodyPr wrap="square" lIns="0" tIns="0" rIns="0" bIns="0" rtlCol="0" anchor="ctr"/>
          <a:lstStyle/>
          <a:p>
            <a:pPr indent="0" marL="0">
              <a:lnSpc>
                <a:spcPct val="130000"/>
              </a:lnSpc>
              <a:buNone/>
            </a:pPr>
            <a:r>
              <a:rPr lang="en-US" sz="1250" dirty="0">
                <a:solidFill>
                  <a:srgbClr val="93A0B0"/>
                </a:solidFill>
                <a:latin typeface="Calibri" pitchFamily="34" charset="0"/>
                <a:ea typeface="Calibri" pitchFamily="34" charset="-122"/>
                <a:cs typeface="Calibri" pitchFamily="34" charset="-120"/>
              </a:rPr>
              <a:t>Measure what the decoder costs on real frames alone, with no rollout. Every later number is read against that floor.</a:t>
            </a:r>
            <a:endParaRPr lang="en-US" sz="1250" dirty="0"/>
          </a:p>
        </p:txBody>
      </p:sp>
      <p:sp>
        <p:nvSpPr>
          <p:cNvPr id="18" name="Text 16"/>
          <p:cNvSpPr txBox="1"/>
          <p:nvPr/>
        </p:nvSpPr>
        <p:spPr>
          <a:xfrm>
            <a:off x="8356397" y="4169664"/>
            <a:ext cx="2875178" cy="292608"/>
          </a:xfrm>
          <a:prstGeom prst="rect">
            <a:avLst/>
          </a:prstGeom>
          <a:noFill/>
          <a:ln/>
        </p:spPr>
        <p:txBody>
          <a:bodyPr wrap="square" lIns="0" tIns="0" rIns="0" bIns="0" rtlCol="0" anchor="ctr"/>
          <a:lstStyle/>
          <a:p>
            <a:pPr indent="0" marL="0">
              <a:buNone/>
            </a:pPr>
            <a:r>
              <a:rPr lang="en-US" sz="1300" b="1" dirty="0">
                <a:solidFill>
                  <a:srgbClr val="6FC791"/>
                </a:solidFill>
                <a:latin typeface="Calibri" pitchFamily="34" charset="0"/>
                <a:ea typeface="Calibri" pitchFamily="34" charset="-122"/>
                <a:cs typeface="Calibri" pitchFamily="34" charset="-120"/>
              </a:rPr>
              <a:t>Measured, not assumed</a:t>
            </a:r>
            <a:endParaRPr lang="en-US" sz="1300" dirty="0"/>
          </a:p>
        </p:txBody>
      </p:sp>
      <p:sp>
        <p:nvSpPr>
          <p:cNvPr id="19" name="Text 17"/>
          <p:cNvSpPr txBox="1"/>
          <p:nvPr/>
        </p:nvSpPr>
        <p:spPr>
          <a:xfrm>
            <a:off x="685800" y="4983480"/>
            <a:ext cx="10241280" cy="640080"/>
          </a:xfrm>
          <a:prstGeom prst="rect">
            <a:avLst/>
          </a:prstGeom>
          <a:noFill/>
          <a:ln/>
        </p:spPr>
        <p:txBody>
          <a:bodyPr wrap="square" lIns="0" tIns="0" rIns="0" bIns="0" rtlCol="0" anchor="ctr"/>
          <a:lstStyle/>
          <a:p>
            <a:pPr indent="0" marL="0">
              <a:lnSpc>
                <a:spcPct val="135000"/>
              </a:lnSpc>
              <a:buNone/>
            </a:pPr>
            <a:r>
              <a:rPr lang="en-US" sz="1500" dirty="0">
                <a:solidFill>
                  <a:srgbClr val="93A0B0"/>
                </a:solidFill>
                <a:latin typeface="Calibri" pitchFamily="34" charset="0"/>
                <a:ea typeface="Calibri" pitchFamily="34" charset="-122"/>
                <a:cs typeface="Calibri" pitchFamily="34" charset="-120"/>
              </a:rPr>
              <a:t>Skip this and a decoder artefact gets reported as a finding about the predictor. It is the most common way this kind of result goes wrong.</a:t>
            </a:r>
            <a:endParaRPr lang="en-US" sz="1500" dirty="0"/>
          </a:p>
        </p:txBody>
      </p:sp>
      <p:sp>
        <p:nvSpPr>
          <p:cNvPr id="20" name="Text 18"/>
          <p:cNvSpPr txBox="1"/>
          <p:nvPr/>
        </p:nvSpPr>
        <p:spPr>
          <a:xfrm>
            <a:off x="685800" y="6199632"/>
            <a:ext cx="5486400" cy="274320"/>
          </a:xfrm>
          <a:prstGeom prst="rect">
            <a:avLst/>
          </a:prstGeom>
          <a:noFill/>
          <a:ln/>
        </p:spPr>
        <p:txBody>
          <a:bodyPr wrap="square" lIns="0" tIns="0" rIns="0" bIns="0" rtlCol="0" anchor="ctr"/>
          <a:lstStyle/>
          <a:p>
            <a:pPr algn="l" indent="0" marL="0">
              <a:buNone/>
            </a:pPr>
            <a:r>
              <a:rPr lang="en-US" sz="1000" dirty="0">
                <a:solidFill>
                  <a:srgbClr val="8794A4"/>
                </a:solidFill>
                <a:latin typeface="Courier New" pitchFamily="34" charset="0"/>
                <a:ea typeface="Courier New" pitchFamily="34" charset="-122"/>
                <a:cs typeface="Courier New" pitchFamily="34" charset="-120"/>
              </a:rPr>
              <a:t>Honesty gate</a:t>
            </a:r>
            <a:endParaRPr lang="en-US" sz="1000" dirty="0"/>
          </a:p>
        </p:txBody>
      </p:sp>
      <p:sp>
        <p:nvSpPr>
          <p:cNvPr id="21" name="Text 19"/>
          <p:cNvSpPr txBox="1"/>
          <p:nvPr/>
        </p:nvSpPr>
        <p:spPr>
          <a:xfrm>
            <a:off x="9677095" y="6199632"/>
            <a:ext cx="1828800" cy="274320"/>
          </a:xfrm>
          <a:prstGeom prst="rect">
            <a:avLst/>
          </a:prstGeom>
          <a:noFill/>
          <a:ln/>
        </p:spPr>
        <p:txBody>
          <a:bodyPr wrap="square" lIns="0" tIns="0" rIns="0" bIns="0" rtlCol="0" anchor="ctr"/>
          <a:lstStyle/>
          <a:p>
            <a:pPr algn="r" indent="0" marL="0">
              <a:buNone/>
            </a:pPr>
            <a:r>
              <a:rPr lang="en-US" sz="1000" dirty="0">
                <a:solidFill>
                  <a:srgbClr val="8794A4"/>
                </a:solidFill>
                <a:latin typeface="Courier New" pitchFamily="34" charset="0"/>
                <a:ea typeface="Courier New" pitchFamily="34" charset="-122"/>
                <a:cs typeface="Courier New"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1F4"/>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74320"/>
          </a:xfrm>
          <a:prstGeom prst="rect">
            <a:avLst/>
          </a:prstGeom>
          <a:noFill/>
          <a:ln/>
        </p:spPr>
        <p:txBody>
          <a:bodyPr wrap="square" lIns="0" tIns="0" rIns="0" bIns="0" rtlCol="0" anchor="ctr"/>
          <a:lstStyle/>
          <a:p>
            <a:pPr algn="l" indent="0" marL="0">
              <a:buNone/>
            </a:pPr>
            <a:r>
              <a:rPr lang="en-US" sz="1100" spc="200" kern="0" dirty="0">
                <a:solidFill>
                  <a:srgbClr val="5B6472"/>
                </a:solidFill>
                <a:latin typeface="Courier New" pitchFamily="34" charset="0"/>
                <a:ea typeface="Courier New" pitchFamily="34" charset="-122"/>
                <a:cs typeface="Courier New" pitchFamily="34" charset="-120"/>
              </a:rPr>
              <a:t>FINDING 1</a:t>
            </a:r>
            <a:endParaRPr lang="en-US" sz="1100" dirty="0"/>
          </a:p>
        </p:txBody>
      </p:sp>
      <p:sp>
        <p:nvSpPr>
          <p:cNvPr id="3" name="Text 1"/>
          <p:cNvSpPr txBox="1"/>
          <p:nvPr/>
        </p:nvSpPr>
        <p:spPr>
          <a:xfrm>
            <a:off x="685800" y="868680"/>
            <a:ext cx="10820095" cy="1051560"/>
          </a:xfrm>
          <a:prstGeom prst="rect">
            <a:avLst/>
          </a:prstGeom>
          <a:noFill/>
          <a:ln/>
        </p:spPr>
        <p:txBody>
          <a:bodyPr wrap="square" lIns="0" tIns="0" rIns="0" bIns="0" rtlCol="0" anchor="t"/>
          <a:lstStyle/>
          <a:p>
            <a:pPr algn="l" indent="0" marL="0">
              <a:lnSpc>
                <a:spcPct val="105000"/>
              </a:lnSpc>
              <a:buNone/>
            </a:pPr>
            <a:r>
              <a:rPr lang="en-US" sz="3400" i="1" dirty="0">
                <a:solidFill>
                  <a:srgbClr val="161B22"/>
                </a:solidFill>
                <a:latin typeface="Cambria" pitchFamily="34" charset="0"/>
                <a:ea typeface="Cambria" pitchFamily="34" charset="-122"/>
                <a:cs typeface="Cambria" pitchFamily="34" charset="-120"/>
              </a:rPr>
              <a:t>The two numbers do not move together</a:t>
            </a:r>
            <a:endParaRPr lang="en-US" sz="3400" dirty="0"/>
          </a:p>
        </p:txBody>
      </p:sp>
      <p:sp>
        <p:nvSpPr>
          <p:cNvPr id="4" name="Text 2"/>
          <p:cNvSpPr txBox="1"/>
          <p:nvPr/>
        </p:nvSpPr>
        <p:spPr>
          <a:xfrm>
            <a:off x="685800" y="2240280"/>
            <a:ext cx="3200400" cy="365760"/>
          </a:xfrm>
          <a:prstGeom prst="rect">
            <a:avLst/>
          </a:prstGeom>
          <a:noFill/>
          <a:ln/>
        </p:spPr>
        <p:txBody>
          <a:bodyPr wrap="square" lIns="0" tIns="0" rIns="0" bIns="0" rtlCol="0" anchor="ctr"/>
          <a:lstStyle/>
          <a:p>
            <a:pPr indent="0" marL="0">
              <a:buNone/>
            </a:pPr>
            <a:r>
              <a:rPr lang="en-US" sz="1400" dirty="0">
                <a:solidFill>
                  <a:srgbClr val="5B6472"/>
                </a:solidFill>
                <a:latin typeface="Calibri" pitchFamily="34" charset="0"/>
                <a:ea typeface="Calibri" pitchFamily="34" charset="-122"/>
                <a:cs typeface="Calibri" pitchFamily="34" charset="-120"/>
              </a:rPr>
              <a:t>Latent drift, k = 2 to 32</a:t>
            </a:r>
            <a:endParaRPr lang="en-US" sz="1400" dirty="0"/>
          </a:p>
        </p:txBody>
      </p:sp>
      <p:sp>
        <p:nvSpPr>
          <p:cNvPr id="5" name="Text 3"/>
          <p:cNvSpPr txBox="1"/>
          <p:nvPr/>
        </p:nvSpPr>
        <p:spPr>
          <a:xfrm>
            <a:off x="3886200" y="2240280"/>
            <a:ext cx="1737360" cy="365760"/>
          </a:xfrm>
          <a:prstGeom prst="rect">
            <a:avLst/>
          </a:prstGeom>
          <a:noFill/>
          <a:ln/>
        </p:spPr>
        <p:txBody>
          <a:bodyPr wrap="square" lIns="0" tIns="0" rIns="0" bIns="0" rtlCol="0" anchor="ctr"/>
          <a:lstStyle/>
          <a:p>
            <a:pPr algn="r" indent="0" marL="0">
              <a:buNone/>
            </a:pPr>
            <a:r>
              <a:rPr lang="en-US" sz="1700" b="1" dirty="0">
                <a:solidFill>
                  <a:srgbClr val="5B6472"/>
                </a:solidFill>
                <a:latin typeface="Courier New" pitchFamily="34" charset="0"/>
                <a:ea typeface="Courier New" pitchFamily="34" charset="-122"/>
                <a:cs typeface="Courier New" pitchFamily="34" charset="-120"/>
              </a:rPr>
              <a:t>moves 2.0%</a:t>
            </a:r>
            <a:endParaRPr lang="en-US" sz="1700" dirty="0"/>
          </a:p>
        </p:txBody>
      </p:sp>
      <p:sp>
        <p:nvSpPr>
          <p:cNvPr id="6" name="Shape 4"/>
          <p:cNvSpPr/>
          <p:nvPr/>
        </p:nvSpPr>
        <p:spPr>
          <a:xfrm>
            <a:off x="685800" y="2697480"/>
            <a:ext cx="4937760" cy="0"/>
          </a:xfrm>
          <a:prstGeom prst="line">
            <a:avLst/>
          </a:prstGeom>
          <a:noFill/>
          <a:ln w="9525">
            <a:solidFill>
              <a:srgbClr val="CCD4DC"/>
            </a:solidFill>
            <a:prstDash val="solid"/>
          </a:ln>
        </p:spPr>
      </p:sp>
      <p:sp>
        <p:nvSpPr>
          <p:cNvPr id="7" name="Text 5"/>
          <p:cNvSpPr txBox="1"/>
          <p:nvPr/>
        </p:nvSpPr>
        <p:spPr>
          <a:xfrm>
            <a:off x="685800" y="2898648"/>
            <a:ext cx="3200400" cy="365760"/>
          </a:xfrm>
          <a:prstGeom prst="rect">
            <a:avLst/>
          </a:prstGeom>
          <a:noFill/>
          <a:ln/>
        </p:spPr>
        <p:txBody>
          <a:bodyPr wrap="square" lIns="0" tIns="0" rIns="0" bIns="0" rtlCol="0" anchor="ctr"/>
          <a:lstStyle/>
          <a:p>
            <a:pPr indent="0" marL="0">
              <a:buNone/>
            </a:pPr>
            <a:r>
              <a:rPr lang="en-US" sz="1400" dirty="0">
                <a:solidFill>
                  <a:srgbClr val="5B6472"/>
                </a:solidFill>
                <a:latin typeface="Calibri" pitchFamily="34" charset="0"/>
                <a:ea typeface="Calibri" pitchFamily="34" charset="-122"/>
                <a:cs typeface="Calibri" pitchFamily="34" charset="-120"/>
              </a:rPr>
              <a:t>Pixel error, same rollout</a:t>
            </a:r>
            <a:endParaRPr lang="en-US" sz="1400" dirty="0"/>
          </a:p>
        </p:txBody>
      </p:sp>
      <p:sp>
        <p:nvSpPr>
          <p:cNvPr id="8" name="Text 6"/>
          <p:cNvSpPr txBox="1"/>
          <p:nvPr/>
        </p:nvSpPr>
        <p:spPr>
          <a:xfrm>
            <a:off x="3886200" y="2898648"/>
            <a:ext cx="1737360" cy="365760"/>
          </a:xfrm>
          <a:prstGeom prst="rect">
            <a:avLst/>
          </a:prstGeom>
          <a:noFill/>
          <a:ln/>
        </p:spPr>
        <p:txBody>
          <a:bodyPr wrap="square" lIns="0" tIns="0" rIns="0" bIns="0" rtlCol="0" anchor="ctr"/>
          <a:lstStyle/>
          <a:p>
            <a:pPr algn="r" indent="0" marL="0">
              <a:buNone/>
            </a:pPr>
            <a:r>
              <a:rPr lang="en-US" sz="1700" b="1" dirty="0">
                <a:solidFill>
                  <a:srgbClr val="161B22"/>
                </a:solidFill>
                <a:latin typeface="Courier New" pitchFamily="34" charset="0"/>
                <a:ea typeface="Courier New" pitchFamily="34" charset="-122"/>
                <a:cs typeface="Courier New" pitchFamily="34" charset="-120"/>
              </a:rPr>
              <a:t>moves 12.0%</a:t>
            </a:r>
            <a:endParaRPr lang="en-US" sz="1700" dirty="0"/>
          </a:p>
        </p:txBody>
      </p:sp>
      <p:sp>
        <p:nvSpPr>
          <p:cNvPr id="9" name="Shape 7"/>
          <p:cNvSpPr/>
          <p:nvPr/>
        </p:nvSpPr>
        <p:spPr>
          <a:xfrm>
            <a:off x="685800" y="3355848"/>
            <a:ext cx="4937760" cy="0"/>
          </a:xfrm>
          <a:prstGeom prst="line">
            <a:avLst/>
          </a:prstGeom>
          <a:noFill/>
          <a:ln w="9525">
            <a:solidFill>
              <a:srgbClr val="CCD4DC"/>
            </a:solidFill>
            <a:prstDash val="solid"/>
          </a:ln>
        </p:spPr>
      </p:sp>
      <p:sp>
        <p:nvSpPr>
          <p:cNvPr id="10" name="Text 8"/>
          <p:cNvSpPr txBox="1"/>
          <p:nvPr/>
        </p:nvSpPr>
        <p:spPr>
          <a:xfrm>
            <a:off x="685800" y="3557016"/>
            <a:ext cx="3200400" cy="365760"/>
          </a:xfrm>
          <a:prstGeom prst="rect">
            <a:avLst/>
          </a:prstGeom>
          <a:noFill/>
          <a:ln/>
        </p:spPr>
        <p:txBody>
          <a:bodyPr wrap="square" lIns="0" tIns="0" rIns="0" bIns="0" rtlCol="0" anchor="ctr"/>
          <a:lstStyle/>
          <a:p>
            <a:pPr indent="0" marL="0">
              <a:buNone/>
            </a:pPr>
            <a:r>
              <a:rPr lang="en-US" sz="1400" dirty="0">
                <a:solidFill>
                  <a:srgbClr val="5B6472"/>
                </a:solidFill>
                <a:latin typeface="Calibri" pitchFamily="34" charset="0"/>
                <a:ea typeface="Calibri" pitchFamily="34" charset="-122"/>
                <a:cs typeface="Calibri" pitchFamily="34" charset="-120"/>
              </a:rPr>
              <a:t>Ratio, pixel over latent</a:t>
            </a:r>
            <a:endParaRPr lang="en-US" sz="1400" dirty="0"/>
          </a:p>
        </p:txBody>
      </p:sp>
      <p:sp>
        <p:nvSpPr>
          <p:cNvPr id="11" name="Text 9"/>
          <p:cNvSpPr txBox="1"/>
          <p:nvPr/>
        </p:nvSpPr>
        <p:spPr>
          <a:xfrm>
            <a:off x="3886200" y="3557016"/>
            <a:ext cx="1737360" cy="365760"/>
          </a:xfrm>
          <a:prstGeom prst="rect">
            <a:avLst/>
          </a:prstGeom>
          <a:noFill/>
          <a:ln/>
        </p:spPr>
        <p:txBody>
          <a:bodyPr wrap="square" lIns="0" tIns="0" rIns="0" bIns="0" rtlCol="0" anchor="ctr"/>
          <a:lstStyle/>
          <a:p>
            <a:pPr algn="r" indent="0" marL="0">
              <a:buNone/>
            </a:pPr>
            <a:r>
              <a:rPr lang="en-US" sz="1700" b="1" dirty="0">
                <a:solidFill>
                  <a:srgbClr val="4A94EE"/>
                </a:solidFill>
                <a:latin typeface="Courier New" pitchFamily="34" charset="0"/>
                <a:ea typeface="Courier New" pitchFamily="34" charset="-122"/>
                <a:cs typeface="Courier New" pitchFamily="34" charset="-120"/>
              </a:rPr>
              <a:t>6.10x</a:t>
            </a:r>
            <a:endParaRPr lang="en-US" sz="1700" dirty="0"/>
          </a:p>
        </p:txBody>
      </p:sp>
      <p:sp>
        <p:nvSpPr>
          <p:cNvPr id="12" name="Shape 10"/>
          <p:cNvSpPr/>
          <p:nvPr/>
        </p:nvSpPr>
        <p:spPr>
          <a:xfrm>
            <a:off x="685800" y="4014216"/>
            <a:ext cx="4937760" cy="0"/>
          </a:xfrm>
          <a:prstGeom prst="line">
            <a:avLst/>
          </a:prstGeom>
          <a:noFill/>
          <a:ln w="9525">
            <a:solidFill>
              <a:srgbClr val="CCD4DC"/>
            </a:solidFill>
            <a:prstDash val="solid"/>
          </a:ln>
        </p:spPr>
      </p:sp>
      <p:sp>
        <p:nvSpPr>
          <p:cNvPr id="13" name="Text 11"/>
          <p:cNvSpPr txBox="1"/>
          <p:nvPr/>
        </p:nvSpPr>
        <p:spPr>
          <a:xfrm>
            <a:off x="685800" y="4215384"/>
            <a:ext cx="3200400" cy="365760"/>
          </a:xfrm>
          <a:prstGeom prst="rect">
            <a:avLst/>
          </a:prstGeom>
          <a:noFill/>
          <a:ln/>
        </p:spPr>
        <p:txBody>
          <a:bodyPr wrap="square" lIns="0" tIns="0" rIns="0" bIns="0" rtlCol="0" anchor="ctr"/>
          <a:lstStyle/>
          <a:p>
            <a:pPr indent="0" marL="0">
              <a:buNone/>
            </a:pPr>
            <a:r>
              <a:rPr lang="en-US" sz="1400" dirty="0">
                <a:solidFill>
                  <a:srgbClr val="5B6472"/>
                </a:solidFill>
                <a:latin typeface="Calibri" pitchFamily="34" charset="0"/>
                <a:ea typeface="Calibri" pitchFamily="34" charset="-122"/>
                <a:cs typeface="Calibri" pitchFamily="34" charset="-120"/>
              </a:rPr>
              <a:t>95% CI, clip-level bootstrap</a:t>
            </a:r>
            <a:endParaRPr lang="en-US" sz="1400" dirty="0"/>
          </a:p>
        </p:txBody>
      </p:sp>
      <p:sp>
        <p:nvSpPr>
          <p:cNvPr id="14" name="Text 12"/>
          <p:cNvSpPr txBox="1"/>
          <p:nvPr/>
        </p:nvSpPr>
        <p:spPr>
          <a:xfrm>
            <a:off x="3886200" y="4215384"/>
            <a:ext cx="1737360" cy="365760"/>
          </a:xfrm>
          <a:prstGeom prst="rect">
            <a:avLst/>
          </a:prstGeom>
          <a:noFill/>
          <a:ln/>
        </p:spPr>
        <p:txBody>
          <a:bodyPr wrap="square" lIns="0" tIns="0" rIns="0" bIns="0" rtlCol="0" anchor="ctr"/>
          <a:lstStyle/>
          <a:p>
            <a:pPr algn="r" indent="0" marL="0">
              <a:buNone/>
            </a:pPr>
            <a:r>
              <a:rPr lang="en-US" sz="1700" b="1" dirty="0">
                <a:solidFill>
                  <a:srgbClr val="5B6472"/>
                </a:solidFill>
                <a:latin typeface="Courier New" pitchFamily="34" charset="0"/>
                <a:ea typeface="Courier New" pitchFamily="34" charset="-122"/>
                <a:cs typeface="Courier New" pitchFamily="34" charset="-120"/>
              </a:rPr>
              <a:t>[2.03, 14.00]</a:t>
            </a:r>
            <a:endParaRPr lang="en-US" sz="1700" dirty="0"/>
          </a:p>
        </p:txBody>
      </p:sp>
      <p:sp>
        <p:nvSpPr>
          <p:cNvPr id="15" name="Shape 13"/>
          <p:cNvSpPr/>
          <p:nvPr/>
        </p:nvSpPr>
        <p:spPr>
          <a:xfrm>
            <a:off x="685800" y="4672584"/>
            <a:ext cx="4937760" cy="0"/>
          </a:xfrm>
          <a:prstGeom prst="line">
            <a:avLst/>
          </a:prstGeom>
          <a:noFill/>
          <a:ln w="9525">
            <a:solidFill>
              <a:srgbClr val="CCD4DC"/>
            </a:solidFill>
            <a:prstDash val="solid"/>
          </a:ln>
        </p:spPr>
      </p:sp>
      <p:sp>
        <p:nvSpPr>
          <p:cNvPr id="16" name="Text 14"/>
          <p:cNvSpPr txBox="1"/>
          <p:nvPr/>
        </p:nvSpPr>
        <p:spPr>
          <a:xfrm>
            <a:off x="6446520" y="2240280"/>
            <a:ext cx="5059375" cy="640080"/>
          </a:xfrm>
          <a:prstGeom prst="rect">
            <a:avLst/>
          </a:prstGeom>
          <a:noFill/>
          <a:ln/>
        </p:spPr>
        <p:txBody>
          <a:bodyPr wrap="square" lIns="0" tIns="0" rIns="0" bIns="0" rtlCol="0" anchor="ctr"/>
          <a:lstStyle/>
          <a:p>
            <a:pPr indent="0" marL="0">
              <a:lnSpc>
                <a:spcPct val="130000"/>
              </a:lnSpc>
              <a:buNone/>
            </a:pPr>
            <a:r>
              <a:rPr lang="en-US" sz="1800" b="1" dirty="0">
                <a:solidFill>
                  <a:srgbClr val="161B22"/>
                </a:solidFill>
                <a:latin typeface="Calibri" pitchFamily="34" charset="0"/>
                <a:ea typeface="Calibri" pitchFamily="34" charset="-122"/>
                <a:cs typeface="Calibri" pitchFamily="34" charset="-120"/>
              </a:rPr>
              <a:t>Latent drift is almost flat across horizon. Pixel error is not.</a:t>
            </a:r>
            <a:endParaRPr lang="en-US" sz="1800" dirty="0"/>
          </a:p>
        </p:txBody>
      </p:sp>
      <p:sp>
        <p:nvSpPr>
          <p:cNvPr id="17" name="Text 15"/>
          <p:cNvSpPr txBox="1"/>
          <p:nvPr/>
        </p:nvSpPr>
        <p:spPr>
          <a:xfrm>
            <a:off x="6446520" y="3017520"/>
            <a:ext cx="5059375" cy="1188720"/>
          </a:xfrm>
          <a:prstGeom prst="rect">
            <a:avLst/>
          </a:prstGeom>
          <a:noFill/>
          <a:ln/>
        </p:spPr>
        <p:txBody>
          <a:bodyPr wrap="square" lIns="0" tIns="0" rIns="0" bIns="0" rtlCol="0" anchor="ctr"/>
          <a:lstStyle/>
          <a:p>
            <a:pPr indent="0" marL="0">
              <a:lnSpc>
                <a:spcPct val="140000"/>
              </a:lnSpc>
              <a:buNone/>
            </a:pPr>
            <a:r>
              <a:rPr lang="en-US" sz="1400" dirty="0">
                <a:solidFill>
                  <a:srgbClr val="5B6472"/>
                </a:solidFill>
                <a:latin typeface="Calibri" pitchFamily="34" charset="0"/>
                <a:ea typeface="Calibri" pitchFamily="34" charset="-122"/>
                <a:cs typeface="Calibri" pitchFamily="34" charset="-120"/>
              </a:rPr>
              <a:t>So the pixel movement cannot be explained by the latent simply drifting further from the truth. A latent-space check would see nothing happening while the decoded scene degrades.</a:t>
            </a:r>
            <a:endParaRPr lang="en-US" sz="1400" dirty="0"/>
          </a:p>
        </p:txBody>
      </p:sp>
      <p:sp>
        <p:nvSpPr>
          <p:cNvPr id="18" name="Text 16"/>
          <p:cNvSpPr txBox="1"/>
          <p:nvPr/>
        </p:nvSpPr>
        <p:spPr>
          <a:xfrm>
            <a:off x="6446520" y="4297680"/>
            <a:ext cx="5059375" cy="822960"/>
          </a:xfrm>
          <a:prstGeom prst="rect">
            <a:avLst/>
          </a:prstGeom>
          <a:noFill/>
          <a:ln/>
        </p:spPr>
        <p:txBody>
          <a:bodyPr wrap="square" lIns="0" tIns="0" rIns="0" bIns="0" rtlCol="0" anchor="ctr"/>
          <a:lstStyle/>
          <a:p>
            <a:pPr indent="0" marL="0">
              <a:lnSpc>
                <a:spcPct val="140000"/>
              </a:lnSpc>
              <a:buNone/>
            </a:pPr>
            <a:r>
              <a:rPr lang="en-US" sz="1250" dirty="0">
                <a:solidFill>
                  <a:srgbClr val="5B6472"/>
                </a:solidFill>
                <a:latin typeface="Calibri" pitchFamily="34" charset="0"/>
                <a:ea typeface="Calibri" pitchFamily="34" charset="-122"/>
                <a:cs typeface="Calibri" pitchFamily="34" charset="-120"/>
              </a:rPr>
              <a:t>Both coordinates are compared as scale-free relative ranges, so the ratio is invariant to rescaling either one.</a:t>
            </a:r>
            <a:endParaRPr lang="en-US" sz="1250" dirty="0"/>
          </a:p>
        </p:txBody>
      </p:sp>
      <p:sp>
        <p:nvSpPr>
          <p:cNvPr id="19" name="Text 17"/>
          <p:cNvSpPr txBox="1"/>
          <p:nvPr/>
        </p:nvSpPr>
        <p:spPr>
          <a:xfrm>
            <a:off x="685800" y="6199632"/>
            <a:ext cx="5486400" cy="274320"/>
          </a:xfrm>
          <a:prstGeom prst="rect">
            <a:avLst/>
          </a:prstGeom>
          <a:noFill/>
          <a:ln/>
        </p:spPr>
        <p:txBody>
          <a:bodyPr wrap="square" lIns="0" tIns="0" rIns="0" bIns="0" rtlCol="0" anchor="ctr"/>
          <a:lstStyle/>
          <a:p>
            <a:pPr algn="l" indent="0" marL="0">
              <a:buNone/>
            </a:pPr>
            <a:r>
              <a:rPr lang="en-US" sz="1000" dirty="0">
                <a:solidFill>
                  <a:srgbClr val="7C8794"/>
                </a:solidFill>
                <a:latin typeface="Courier New" pitchFamily="34" charset="0"/>
                <a:ea typeface="Courier New" pitchFamily="34" charset="-122"/>
                <a:cs typeface="Courier New" pitchFamily="34" charset="-120"/>
              </a:rPr>
              <a:t>Finding 1</a:t>
            </a:r>
            <a:endParaRPr lang="en-US" sz="1000" dirty="0"/>
          </a:p>
        </p:txBody>
      </p:sp>
      <p:sp>
        <p:nvSpPr>
          <p:cNvPr id="20" name="Text 18"/>
          <p:cNvSpPr txBox="1"/>
          <p:nvPr/>
        </p:nvSpPr>
        <p:spPr>
          <a:xfrm>
            <a:off x="9677095" y="6199632"/>
            <a:ext cx="1828800" cy="274320"/>
          </a:xfrm>
          <a:prstGeom prst="rect">
            <a:avLst/>
          </a:prstGeom>
          <a:noFill/>
          <a:ln/>
        </p:spPr>
        <p:txBody>
          <a:bodyPr wrap="square" lIns="0" tIns="0" rIns="0" bIns="0" rtlCol="0" anchor="ctr"/>
          <a:lstStyle/>
          <a:p>
            <a:pPr algn="r" indent="0" marL="0">
              <a:buNone/>
            </a:pPr>
            <a:r>
              <a:rPr lang="en-US" sz="1000" dirty="0">
                <a:solidFill>
                  <a:srgbClr val="7C8794"/>
                </a:solidFill>
                <a:latin typeface="Courier New" pitchFamily="34" charset="0"/>
                <a:ea typeface="Courier New" pitchFamily="34" charset="-122"/>
                <a:cs typeface="Courier New"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406F"/>
        </a:solidFill>
      </p:bgPr>
    </p:bg>
    <p:spTree>
      <p:nvGrpSpPr>
        <p:cNvPr id="1" name=""/>
        <p:cNvGrpSpPr/>
        <p:nvPr/>
      </p:nvGrpSpPr>
      <p:grpSpPr>
        <a:xfrm>
          <a:off x="0" y="0"/>
          <a:ext cx="0" cy="0"/>
          <a:chOff x="0" y="0"/>
          <a:chExt cx="0" cy="0"/>
        </a:xfrm>
      </p:grpSpPr>
      <p:sp>
        <p:nvSpPr>
          <p:cNvPr id="2" name="Text 0"/>
          <p:cNvSpPr txBox="1"/>
          <p:nvPr/>
        </p:nvSpPr>
        <p:spPr>
          <a:xfrm>
            <a:off x="685800" y="1188720"/>
            <a:ext cx="10820095" cy="274320"/>
          </a:xfrm>
          <a:prstGeom prst="rect">
            <a:avLst/>
          </a:prstGeom>
          <a:noFill/>
          <a:ln/>
        </p:spPr>
        <p:txBody>
          <a:bodyPr wrap="square" lIns="0" tIns="0" rIns="0" bIns="0" rtlCol="0" anchor="ctr"/>
          <a:lstStyle/>
          <a:p>
            <a:pPr indent="0" marL="0">
              <a:buNone/>
            </a:pPr>
            <a:r>
              <a:rPr lang="en-US" sz="1200" spc="200" kern="0" dirty="0">
                <a:solidFill>
                  <a:srgbClr val="9EC4EE"/>
                </a:solidFill>
                <a:latin typeface="Courier New" pitchFamily="34" charset="0"/>
                <a:ea typeface="Courier New" pitchFamily="34" charset="-122"/>
                <a:cs typeface="Courier New" pitchFamily="34" charset="-120"/>
              </a:rPr>
              <a:t>THE OBVIOUS OBJECTION</a:t>
            </a:r>
            <a:endParaRPr lang="en-US" sz="1200" dirty="0"/>
          </a:p>
        </p:txBody>
      </p:sp>
      <p:sp>
        <p:nvSpPr>
          <p:cNvPr id="3" name="Text 1"/>
          <p:cNvSpPr txBox="1"/>
          <p:nvPr/>
        </p:nvSpPr>
        <p:spPr>
          <a:xfrm>
            <a:off x="685800" y="1783080"/>
            <a:ext cx="10241280" cy="1920240"/>
          </a:xfrm>
          <a:prstGeom prst="rect">
            <a:avLst/>
          </a:prstGeom>
          <a:noFill/>
          <a:ln/>
        </p:spPr>
        <p:txBody>
          <a:bodyPr wrap="square" lIns="0" tIns="0" rIns="0" bIns="0" rtlCol="0" anchor="ctr"/>
          <a:lstStyle/>
          <a:p>
            <a:pPr indent="0" marL="0">
              <a:lnSpc>
                <a:spcPct val="108000"/>
              </a:lnSpc>
              <a:buNone/>
            </a:pPr>
            <a:r>
              <a:rPr lang="en-US" sz="4000" i="1" dirty="0">
                <a:solidFill>
                  <a:srgbClr val="EAF2FC"/>
                </a:solidFill>
                <a:latin typeface="Cambria" pitchFamily="34" charset="0"/>
                <a:ea typeface="Cambria" pitchFamily="34" charset="-122"/>
                <a:cs typeface="Cambria" pitchFamily="34" charset="-120"/>
              </a:rPr>
              <a:t>"Fine, but decoding is expensive. Surely some cheap latent-only signal tracks this?"</a:t>
            </a:r>
            <a:endParaRPr lang="en-US" sz="4000" dirty="0"/>
          </a:p>
        </p:txBody>
      </p:sp>
      <p:sp>
        <p:nvSpPr>
          <p:cNvPr id="4" name="Text 2"/>
          <p:cNvSpPr txBox="1"/>
          <p:nvPr/>
        </p:nvSpPr>
        <p:spPr>
          <a:xfrm>
            <a:off x="685800" y="4023360"/>
            <a:ext cx="9509760" cy="822960"/>
          </a:xfrm>
          <a:prstGeom prst="rect">
            <a:avLst/>
          </a:prstGeom>
          <a:noFill/>
          <a:ln/>
        </p:spPr>
        <p:txBody>
          <a:bodyPr wrap="square" lIns="0" tIns="0" rIns="0" bIns="0" rtlCol="0" anchor="ctr"/>
          <a:lstStyle/>
          <a:p>
            <a:pPr indent="0" marL="0">
              <a:lnSpc>
                <a:spcPct val="140000"/>
              </a:lnSpc>
              <a:buNone/>
            </a:pPr>
            <a:r>
              <a:rPr lang="en-US" sz="1800" dirty="0">
                <a:solidFill>
                  <a:srgbClr val="C5DAF3"/>
                </a:solidFill>
                <a:latin typeface="Calibri" pitchFamily="34" charset="0"/>
                <a:ea typeface="Calibri" pitchFamily="34" charset="-122"/>
                <a:cs typeface="Calibri" pitchFamily="34" charset="-120"/>
              </a:rPr>
              <a:t>We took that seriously and tested seven, including one purpose-built for early crash warning in a different field entirely.</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F1F4"/>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74320"/>
          </a:xfrm>
          <a:prstGeom prst="rect">
            <a:avLst/>
          </a:prstGeom>
          <a:noFill/>
          <a:ln/>
        </p:spPr>
        <p:txBody>
          <a:bodyPr wrap="square" lIns="0" tIns="0" rIns="0" bIns="0" rtlCol="0" anchor="ctr"/>
          <a:lstStyle/>
          <a:p>
            <a:pPr algn="l" indent="0" marL="0">
              <a:buNone/>
            </a:pPr>
            <a:r>
              <a:rPr lang="en-US" sz="1100" spc="200" kern="0" dirty="0">
                <a:solidFill>
                  <a:srgbClr val="5B6472"/>
                </a:solidFill>
                <a:latin typeface="Courier New" pitchFamily="34" charset="0"/>
                <a:ea typeface="Courier New" pitchFamily="34" charset="-122"/>
                <a:cs typeface="Courier New" pitchFamily="34" charset="-120"/>
              </a:rPr>
              <a:t>FINDING 2</a:t>
            </a:r>
            <a:endParaRPr lang="en-US" sz="1100" dirty="0"/>
          </a:p>
        </p:txBody>
      </p:sp>
      <p:sp>
        <p:nvSpPr>
          <p:cNvPr id="3" name="Text 1"/>
          <p:cNvSpPr txBox="1"/>
          <p:nvPr/>
        </p:nvSpPr>
        <p:spPr>
          <a:xfrm>
            <a:off x="685800" y="868680"/>
            <a:ext cx="10820095" cy="1051560"/>
          </a:xfrm>
          <a:prstGeom prst="rect">
            <a:avLst/>
          </a:prstGeom>
          <a:noFill/>
          <a:ln/>
        </p:spPr>
        <p:txBody>
          <a:bodyPr wrap="square" lIns="0" tIns="0" rIns="0" bIns="0" rtlCol="0" anchor="t"/>
          <a:lstStyle/>
          <a:p>
            <a:pPr algn="l" indent="0" marL="0">
              <a:lnSpc>
                <a:spcPct val="105000"/>
              </a:lnSpc>
              <a:buNone/>
            </a:pPr>
            <a:r>
              <a:rPr lang="en-US" sz="3400" i="1" dirty="0">
                <a:solidFill>
                  <a:srgbClr val="161B22"/>
                </a:solidFill>
                <a:latin typeface="Cambria" pitchFamily="34" charset="0"/>
                <a:ea typeface="Cambria" pitchFamily="34" charset="-122"/>
                <a:cs typeface="Cambria" pitchFamily="34" charset="-120"/>
              </a:rPr>
              <a:t>Seven proxies, four independent tests, zero survivors</a:t>
            </a:r>
            <a:endParaRPr lang="en-US" sz="3400" dirty="0"/>
          </a:p>
        </p:txBody>
      </p:sp>
      <p:sp>
        <p:nvSpPr>
          <p:cNvPr id="4" name="Shape 2"/>
          <p:cNvSpPr/>
          <p:nvPr/>
        </p:nvSpPr>
        <p:spPr>
          <a:xfrm>
            <a:off x="685800" y="2103120"/>
            <a:ext cx="10820095" cy="640080"/>
          </a:xfrm>
          <a:prstGeom prst="roundRect">
            <a:avLst>
              <a:gd name="adj" fmla="val 11429"/>
            </a:avLst>
          </a:prstGeom>
          <a:solidFill>
            <a:srgbClr val="F7F9FB"/>
          </a:solidFill>
          <a:ln w="9525">
            <a:solidFill>
              <a:srgbClr val="CCD4DC"/>
            </a:solidFill>
            <a:prstDash val="solid"/>
          </a:ln>
        </p:spPr>
      </p:sp>
      <p:sp>
        <p:nvSpPr>
          <p:cNvPr id="5" name="Text 3"/>
          <p:cNvSpPr txBox="1"/>
          <p:nvPr/>
        </p:nvSpPr>
        <p:spPr>
          <a:xfrm>
            <a:off x="960120" y="2157984"/>
            <a:ext cx="2286000" cy="530352"/>
          </a:xfrm>
          <a:prstGeom prst="rect">
            <a:avLst/>
          </a:prstGeom>
          <a:noFill/>
          <a:ln/>
        </p:spPr>
        <p:txBody>
          <a:bodyPr wrap="square" lIns="0" tIns="0" rIns="0" bIns="0" rtlCol="0" anchor="ctr"/>
          <a:lstStyle/>
          <a:p>
            <a:pPr indent="0" marL="0">
              <a:buNone/>
            </a:pPr>
            <a:r>
              <a:rPr lang="en-US" sz="1500" b="1" dirty="0">
                <a:solidFill>
                  <a:srgbClr val="161B22"/>
                </a:solidFill>
                <a:latin typeface="Calibri" pitchFamily="34" charset="0"/>
                <a:ea typeface="Calibri" pitchFamily="34" charset="-122"/>
                <a:cs typeface="Calibri" pitchFamily="34" charset="-120"/>
              </a:rPr>
              <a:t>Correlation</a:t>
            </a:r>
            <a:endParaRPr lang="en-US" sz="1500" dirty="0"/>
          </a:p>
        </p:txBody>
      </p:sp>
      <p:sp>
        <p:nvSpPr>
          <p:cNvPr id="6" name="Text 4"/>
          <p:cNvSpPr txBox="1"/>
          <p:nvPr/>
        </p:nvSpPr>
        <p:spPr>
          <a:xfrm>
            <a:off x="3383280" y="2157984"/>
            <a:ext cx="5120640" cy="530352"/>
          </a:xfrm>
          <a:prstGeom prst="rect">
            <a:avLst/>
          </a:prstGeom>
          <a:noFill/>
          <a:ln/>
        </p:spPr>
        <p:txBody>
          <a:bodyPr wrap="square" lIns="0" tIns="0" rIns="0" bIns="0" rtlCol="0" anchor="ctr"/>
          <a:lstStyle/>
          <a:p>
            <a:pPr indent="0" marL="0">
              <a:lnSpc>
                <a:spcPct val="120000"/>
              </a:lnSpc>
              <a:buNone/>
            </a:pPr>
            <a:r>
              <a:rPr lang="en-US" sz="1200" dirty="0">
                <a:solidFill>
                  <a:srgbClr val="5B6472"/>
                </a:solidFill>
                <a:latin typeface="Calibri" pitchFamily="34" charset="0"/>
                <a:ea typeface="Calibri" pitchFamily="34" charset="-122"/>
                <a:cs typeface="Calibri" pitchFamily="34" charset="-120"/>
              </a:rPr>
              <a:t>Best proxy reaches r = 0.12 against real pixel error. Raw latent drift reaches 0.013.</a:t>
            </a:r>
            <a:endParaRPr lang="en-US" sz="1200" dirty="0"/>
          </a:p>
        </p:txBody>
      </p:sp>
      <p:sp>
        <p:nvSpPr>
          <p:cNvPr id="7" name="Text 5"/>
          <p:cNvSpPr txBox="1"/>
          <p:nvPr/>
        </p:nvSpPr>
        <p:spPr>
          <a:xfrm>
            <a:off x="8641080" y="2157984"/>
            <a:ext cx="2590495" cy="530352"/>
          </a:xfrm>
          <a:prstGeom prst="rect">
            <a:avLst/>
          </a:prstGeom>
          <a:noFill/>
          <a:ln/>
        </p:spPr>
        <p:txBody>
          <a:bodyPr wrap="square" lIns="0" tIns="0" rIns="0" bIns="0" rtlCol="0" anchor="ctr"/>
          <a:lstStyle/>
          <a:p>
            <a:pPr algn="r" indent="0" marL="0">
              <a:buNone/>
            </a:pPr>
            <a:r>
              <a:rPr lang="en-US" sz="1250" b="1" dirty="0">
                <a:solidFill>
                  <a:srgbClr val="E88B83"/>
                </a:solidFill>
                <a:latin typeface="Courier New" pitchFamily="34" charset="0"/>
                <a:ea typeface="Courier New" pitchFamily="34" charset="-122"/>
                <a:cs typeface="Courier New" pitchFamily="34" charset="-120"/>
              </a:rPr>
              <a:t>All seven CIs include zero</a:t>
            </a:r>
            <a:endParaRPr lang="en-US" sz="1250" dirty="0"/>
          </a:p>
        </p:txBody>
      </p:sp>
      <p:sp>
        <p:nvSpPr>
          <p:cNvPr id="8" name="Shape 6"/>
          <p:cNvSpPr/>
          <p:nvPr/>
        </p:nvSpPr>
        <p:spPr>
          <a:xfrm>
            <a:off x="685800" y="2862072"/>
            <a:ext cx="10820095" cy="640080"/>
          </a:xfrm>
          <a:prstGeom prst="roundRect">
            <a:avLst>
              <a:gd name="adj" fmla="val 11429"/>
            </a:avLst>
          </a:prstGeom>
          <a:solidFill>
            <a:srgbClr val="F7F9FB"/>
          </a:solidFill>
          <a:ln w="9525">
            <a:solidFill>
              <a:srgbClr val="CCD4DC"/>
            </a:solidFill>
            <a:prstDash val="solid"/>
          </a:ln>
        </p:spPr>
      </p:sp>
      <p:sp>
        <p:nvSpPr>
          <p:cNvPr id="9" name="Text 7"/>
          <p:cNvSpPr txBox="1"/>
          <p:nvPr/>
        </p:nvSpPr>
        <p:spPr>
          <a:xfrm>
            <a:off x="960120" y="2916936"/>
            <a:ext cx="2286000" cy="530352"/>
          </a:xfrm>
          <a:prstGeom prst="rect">
            <a:avLst/>
          </a:prstGeom>
          <a:noFill/>
          <a:ln/>
        </p:spPr>
        <p:txBody>
          <a:bodyPr wrap="square" lIns="0" tIns="0" rIns="0" bIns="0" rtlCol="0" anchor="ctr"/>
          <a:lstStyle/>
          <a:p>
            <a:pPr indent="0" marL="0">
              <a:buNone/>
            </a:pPr>
            <a:r>
              <a:rPr lang="en-US" sz="1500" b="1" dirty="0">
                <a:solidFill>
                  <a:srgbClr val="161B22"/>
                </a:solidFill>
                <a:latin typeface="Calibri" pitchFamily="34" charset="0"/>
                <a:ea typeface="Calibri" pitchFamily="34" charset="-122"/>
                <a:cs typeface="Calibri" pitchFamily="34" charset="-120"/>
              </a:rPr>
              <a:t>Conformal efficiency</a:t>
            </a:r>
            <a:endParaRPr lang="en-US" sz="1500" dirty="0"/>
          </a:p>
        </p:txBody>
      </p:sp>
      <p:sp>
        <p:nvSpPr>
          <p:cNvPr id="10" name="Text 8"/>
          <p:cNvSpPr txBox="1"/>
          <p:nvPr/>
        </p:nvSpPr>
        <p:spPr>
          <a:xfrm>
            <a:off x="3383280" y="2916936"/>
            <a:ext cx="5120640" cy="530352"/>
          </a:xfrm>
          <a:prstGeom prst="rect">
            <a:avLst/>
          </a:prstGeom>
          <a:noFill/>
          <a:ln/>
        </p:spPr>
        <p:txBody>
          <a:bodyPr wrap="square" lIns="0" tIns="0" rIns="0" bIns="0" rtlCol="0" anchor="ctr"/>
          <a:lstStyle/>
          <a:p>
            <a:pPr indent="0" marL="0">
              <a:lnSpc>
                <a:spcPct val="120000"/>
              </a:lnSpc>
              <a:buNone/>
            </a:pPr>
            <a:r>
              <a:rPr lang="en-US" sz="1200" dirty="0">
                <a:solidFill>
                  <a:srgbClr val="5B6472"/>
                </a:solidFill>
                <a:latin typeface="Calibri" pitchFamily="34" charset="0"/>
                <a:ea typeface="Calibri" pitchFamily="34" charset="-122"/>
                <a:cs typeface="Calibri" pitchFamily="34" charset="-120"/>
              </a:rPr>
              <a:t>Does conditioning a prediction interval on the proxy make it narrower than ignoring the proxy?</a:t>
            </a:r>
            <a:endParaRPr lang="en-US" sz="1200" dirty="0"/>
          </a:p>
        </p:txBody>
      </p:sp>
      <p:sp>
        <p:nvSpPr>
          <p:cNvPr id="11" name="Text 9"/>
          <p:cNvSpPr txBox="1"/>
          <p:nvPr/>
        </p:nvSpPr>
        <p:spPr>
          <a:xfrm>
            <a:off x="8641080" y="2916936"/>
            <a:ext cx="2590495" cy="530352"/>
          </a:xfrm>
          <a:prstGeom prst="rect">
            <a:avLst/>
          </a:prstGeom>
          <a:noFill/>
          <a:ln/>
        </p:spPr>
        <p:txBody>
          <a:bodyPr wrap="square" lIns="0" tIns="0" rIns="0" bIns="0" rtlCol="0" anchor="ctr"/>
          <a:lstStyle/>
          <a:p>
            <a:pPr algn="r" indent="0" marL="0">
              <a:buNone/>
            </a:pPr>
            <a:r>
              <a:rPr lang="en-US" sz="1250" b="1" dirty="0">
                <a:solidFill>
                  <a:srgbClr val="E88B83"/>
                </a:solidFill>
                <a:latin typeface="Courier New" pitchFamily="34" charset="0"/>
                <a:ea typeface="Courier New" pitchFamily="34" charset="-122"/>
                <a:cs typeface="Courier New" pitchFamily="34" charset="-120"/>
              </a:rPr>
              <a:t>Five of seven are wider</a:t>
            </a:r>
            <a:endParaRPr lang="en-US" sz="1250" dirty="0"/>
          </a:p>
        </p:txBody>
      </p:sp>
      <p:sp>
        <p:nvSpPr>
          <p:cNvPr id="12" name="Shape 10"/>
          <p:cNvSpPr/>
          <p:nvPr/>
        </p:nvSpPr>
        <p:spPr>
          <a:xfrm>
            <a:off x="685800" y="3621024"/>
            <a:ext cx="10820095" cy="640080"/>
          </a:xfrm>
          <a:prstGeom prst="roundRect">
            <a:avLst>
              <a:gd name="adj" fmla="val 11429"/>
            </a:avLst>
          </a:prstGeom>
          <a:solidFill>
            <a:srgbClr val="F7F9FB"/>
          </a:solidFill>
          <a:ln w="9525">
            <a:solidFill>
              <a:srgbClr val="CCD4DC"/>
            </a:solidFill>
            <a:prstDash val="solid"/>
          </a:ln>
        </p:spPr>
      </p:sp>
      <p:sp>
        <p:nvSpPr>
          <p:cNvPr id="13" name="Text 11"/>
          <p:cNvSpPr txBox="1"/>
          <p:nvPr/>
        </p:nvSpPr>
        <p:spPr>
          <a:xfrm>
            <a:off x="960120" y="3675888"/>
            <a:ext cx="2286000" cy="530352"/>
          </a:xfrm>
          <a:prstGeom prst="rect">
            <a:avLst/>
          </a:prstGeom>
          <a:noFill/>
          <a:ln/>
        </p:spPr>
        <p:txBody>
          <a:bodyPr wrap="square" lIns="0" tIns="0" rIns="0" bIns="0" rtlCol="0" anchor="ctr"/>
          <a:lstStyle/>
          <a:p>
            <a:pPr indent="0" marL="0">
              <a:buNone/>
            </a:pPr>
            <a:r>
              <a:rPr lang="en-US" sz="1500" b="1" dirty="0">
                <a:solidFill>
                  <a:srgbClr val="161B22"/>
                </a:solidFill>
                <a:latin typeface="Calibri" pitchFamily="34" charset="0"/>
                <a:ea typeface="Calibri" pitchFamily="34" charset="-122"/>
                <a:cs typeface="Calibri" pitchFamily="34" charset="-120"/>
              </a:rPr>
              <a:t>Early warning</a:t>
            </a:r>
            <a:endParaRPr lang="en-US" sz="1500" dirty="0"/>
          </a:p>
        </p:txBody>
      </p:sp>
      <p:sp>
        <p:nvSpPr>
          <p:cNvPr id="14" name="Text 12"/>
          <p:cNvSpPr txBox="1"/>
          <p:nvPr/>
        </p:nvSpPr>
        <p:spPr>
          <a:xfrm>
            <a:off x="3383280" y="3675888"/>
            <a:ext cx="5120640" cy="530352"/>
          </a:xfrm>
          <a:prstGeom prst="rect">
            <a:avLst/>
          </a:prstGeom>
          <a:noFill/>
          <a:ln/>
        </p:spPr>
        <p:txBody>
          <a:bodyPr wrap="square" lIns="0" tIns="0" rIns="0" bIns="0" rtlCol="0" anchor="ctr"/>
          <a:lstStyle/>
          <a:p>
            <a:pPr indent="0" marL="0">
              <a:lnSpc>
                <a:spcPct val="120000"/>
              </a:lnSpc>
              <a:buNone/>
            </a:pPr>
            <a:r>
              <a:rPr lang="en-US" sz="1200" dirty="0">
                <a:solidFill>
                  <a:srgbClr val="5B6472"/>
                </a:solidFill>
                <a:latin typeface="Calibri" pitchFamily="34" charset="0"/>
                <a:ea typeface="Calibri" pitchFamily="34" charset="-122"/>
                <a:cs typeface="Calibri" pitchFamily="34" charset="-120"/>
              </a:rPr>
              <a:t>Of 8 real crashes across 24 clips, how many did the entropy-rate detector flag in advance?</a:t>
            </a:r>
            <a:endParaRPr lang="en-US" sz="1200" dirty="0"/>
          </a:p>
        </p:txBody>
      </p:sp>
      <p:sp>
        <p:nvSpPr>
          <p:cNvPr id="15" name="Text 13"/>
          <p:cNvSpPr txBox="1"/>
          <p:nvPr/>
        </p:nvSpPr>
        <p:spPr>
          <a:xfrm>
            <a:off x="8641080" y="3675888"/>
            <a:ext cx="2590495" cy="530352"/>
          </a:xfrm>
          <a:prstGeom prst="rect">
            <a:avLst/>
          </a:prstGeom>
          <a:noFill/>
          <a:ln/>
        </p:spPr>
        <p:txBody>
          <a:bodyPr wrap="square" lIns="0" tIns="0" rIns="0" bIns="0" rtlCol="0" anchor="ctr"/>
          <a:lstStyle/>
          <a:p>
            <a:pPr algn="r" indent="0" marL="0">
              <a:buNone/>
            </a:pPr>
            <a:r>
              <a:rPr lang="en-US" sz="1250" b="1" dirty="0">
                <a:solidFill>
                  <a:srgbClr val="E88B83"/>
                </a:solidFill>
                <a:latin typeface="Courier New" pitchFamily="34" charset="0"/>
                <a:ea typeface="Courier New" pitchFamily="34" charset="-122"/>
                <a:cs typeface="Courier New" pitchFamily="34" charset="-120"/>
              </a:rPr>
              <a:t>Zero. Wilson CI [0%, 32%]</a:t>
            </a:r>
            <a:endParaRPr lang="en-US" sz="1250" dirty="0"/>
          </a:p>
        </p:txBody>
      </p:sp>
      <p:sp>
        <p:nvSpPr>
          <p:cNvPr id="16" name="Shape 14"/>
          <p:cNvSpPr/>
          <p:nvPr/>
        </p:nvSpPr>
        <p:spPr>
          <a:xfrm>
            <a:off x="685800" y="4379976"/>
            <a:ext cx="10820095" cy="640080"/>
          </a:xfrm>
          <a:prstGeom prst="roundRect">
            <a:avLst>
              <a:gd name="adj" fmla="val 11429"/>
            </a:avLst>
          </a:prstGeom>
          <a:solidFill>
            <a:srgbClr val="F7F9FB"/>
          </a:solidFill>
          <a:ln w="9525">
            <a:solidFill>
              <a:srgbClr val="CCD4DC"/>
            </a:solidFill>
            <a:prstDash val="solid"/>
          </a:ln>
        </p:spPr>
      </p:sp>
      <p:sp>
        <p:nvSpPr>
          <p:cNvPr id="17" name="Text 15"/>
          <p:cNvSpPr txBox="1"/>
          <p:nvPr/>
        </p:nvSpPr>
        <p:spPr>
          <a:xfrm>
            <a:off x="960120" y="4434840"/>
            <a:ext cx="2286000" cy="530352"/>
          </a:xfrm>
          <a:prstGeom prst="rect">
            <a:avLst/>
          </a:prstGeom>
          <a:noFill/>
          <a:ln/>
        </p:spPr>
        <p:txBody>
          <a:bodyPr wrap="square" lIns="0" tIns="0" rIns="0" bIns="0" rtlCol="0" anchor="ctr"/>
          <a:lstStyle/>
          <a:p>
            <a:pPr indent="0" marL="0">
              <a:buNone/>
            </a:pPr>
            <a:r>
              <a:rPr lang="en-US" sz="1500" b="1" dirty="0">
                <a:solidFill>
                  <a:srgbClr val="161B22"/>
                </a:solidFill>
                <a:latin typeface="Calibri" pitchFamily="34" charset="0"/>
                <a:ea typeface="Calibri" pitchFamily="34" charset="-122"/>
                <a:cs typeface="Calibri" pitchFamily="34" charset="-120"/>
              </a:rPr>
              <a:t>Ranking consistency</a:t>
            </a:r>
            <a:endParaRPr lang="en-US" sz="1500" dirty="0"/>
          </a:p>
        </p:txBody>
      </p:sp>
      <p:sp>
        <p:nvSpPr>
          <p:cNvPr id="18" name="Text 16"/>
          <p:cNvSpPr txBox="1"/>
          <p:nvPr/>
        </p:nvSpPr>
        <p:spPr>
          <a:xfrm>
            <a:off x="3383280" y="4434840"/>
            <a:ext cx="5120640" cy="530352"/>
          </a:xfrm>
          <a:prstGeom prst="rect">
            <a:avLst/>
          </a:prstGeom>
          <a:noFill/>
          <a:ln/>
        </p:spPr>
        <p:txBody>
          <a:bodyPr wrap="square" lIns="0" tIns="0" rIns="0" bIns="0" rtlCol="0" anchor="ctr"/>
          <a:lstStyle/>
          <a:p>
            <a:pPr indent="0" marL="0">
              <a:lnSpc>
                <a:spcPct val="120000"/>
              </a:lnSpc>
              <a:buNone/>
            </a:pPr>
            <a:r>
              <a:rPr lang="en-US" sz="1200" dirty="0">
                <a:solidFill>
                  <a:srgbClr val="5B6472"/>
                </a:solidFill>
                <a:latin typeface="Calibri" pitchFamily="34" charset="0"/>
                <a:ea typeface="Calibri" pitchFamily="34" charset="-122"/>
                <a:cs typeface="Calibri" pitchFamily="34" charset="-120"/>
              </a:rPr>
              <a:t>Across 96 conditions and 4,026 decided pairwise comparisons, is there a consistent ordering?</a:t>
            </a:r>
            <a:endParaRPr lang="en-US" sz="1200" dirty="0"/>
          </a:p>
        </p:txBody>
      </p:sp>
      <p:sp>
        <p:nvSpPr>
          <p:cNvPr id="19" name="Text 17"/>
          <p:cNvSpPr txBox="1"/>
          <p:nvPr/>
        </p:nvSpPr>
        <p:spPr>
          <a:xfrm>
            <a:off x="8641080" y="4434840"/>
            <a:ext cx="2590495" cy="530352"/>
          </a:xfrm>
          <a:prstGeom prst="rect">
            <a:avLst/>
          </a:prstGeom>
          <a:noFill/>
          <a:ln/>
        </p:spPr>
        <p:txBody>
          <a:bodyPr wrap="square" lIns="0" tIns="0" rIns="0" bIns="0" rtlCol="0" anchor="ctr"/>
          <a:lstStyle/>
          <a:p>
            <a:pPr algn="r" indent="0" marL="0">
              <a:buNone/>
            </a:pPr>
            <a:r>
              <a:rPr lang="en-US" sz="1250" b="1" dirty="0">
                <a:solidFill>
                  <a:srgbClr val="E88B83"/>
                </a:solidFill>
                <a:latin typeface="Courier New" pitchFamily="34" charset="0"/>
                <a:ea typeface="Courier New" pitchFamily="34" charset="-122"/>
                <a:cs typeface="Courier New" pitchFamily="34" charset="-120"/>
              </a:rPr>
              <a:t>10 explicit 3-cycles</a:t>
            </a:r>
            <a:endParaRPr lang="en-US" sz="1250" dirty="0"/>
          </a:p>
        </p:txBody>
      </p:sp>
      <p:sp>
        <p:nvSpPr>
          <p:cNvPr id="20" name="Text 18"/>
          <p:cNvSpPr txBox="1"/>
          <p:nvPr/>
        </p:nvSpPr>
        <p:spPr>
          <a:xfrm>
            <a:off x="685800" y="5257800"/>
            <a:ext cx="10424160" cy="640080"/>
          </a:xfrm>
          <a:prstGeom prst="rect">
            <a:avLst/>
          </a:prstGeom>
          <a:noFill/>
          <a:ln/>
        </p:spPr>
        <p:txBody>
          <a:bodyPr wrap="square" lIns="0" tIns="0" rIns="0" bIns="0" rtlCol="0" anchor="ctr"/>
          <a:lstStyle/>
          <a:p>
            <a:pPr indent="0" marL="0">
              <a:lnSpc>
                <a:spcPct val="135000"/>
              </a:lnSpc>
              <a:buNone/>
            </a:pPr>
            <a:r>
              <a:rPr lang="en-US" sz="1300" dirty="0">
                <a:solidFill>
                  <a:srgbClr val="5B6472"/>
                </a:solidFill>
                <a:latin typeface="Calibri" pitchFamily="34" charset="0"/>
                <a:ea typeface="Calibri" pitchFamily="34" charset="-122"/>
                <a:cs typeface="Calibri" pitchFamily="34" charset="-120"/>
              </a:rPr>
              <a:t>Each test fails differently, so they do not inherit each other’s weaknesses. The conformal check does not depend on detecting a correlation at all, which is what makes it immune to the small-sample objection.</a:t>
            </a:r>
            <a:endParaRPr lang="en-US" sz="1300" dirty="0"/>
          </a:p>
        </p:txBody>
      </p:sp>
      <p:sp>
        <p:nvSpPr>
          <p:cNvPr id="21" name="Text 19"/>
          <p:cNvSpPr txBox="1"/>
          <p:nvPr/>
        </p:nvSpPr>
        <p:spPr>
          <a:xfrm>
            <a:off x="685800" y="6199632"/>
            <a:ext cx="5486400" cy="274320"/>
          </a:xfrm>
          <a:prstGeom prst="rect">
            <a:avLst/>
          </a:prstGeom>
          <a:noFill/>
          <a:ln/>
        </p:spPr>
        <p:txBody>
          <a:bodyPr wrap="square" lIns="0" tIns="0" rIns="0" bIns="0" rtlCol="0" anchor="ctr"/>
          <a:lstStyle/>
          <a:p>
            <a:pPr algn="l" indent="0" marL="0">
              <a:buNone/>
            </a:pPr>
            <a:r>
              <a:rPr lang="en-US" sz="1000" dirty="0">
                <a:solidFill>
                  <a:srgbClr val="7C8794"/>
                </a:solidFill>
                <a:latin typeface="Courier New" pitchFamily="34" charset="0"/>
                <a:ea typeface="Courier New" pitchFamily="34" charset="-122"/>
                <a:cs typeface="Courier New" pitchFamily="34" charset="-120"/>
              </a:rPr>
              <a:t>The proxy battery</a:t>
            </a:r>
            <a:endParaRPr lang="en-US" sz="1000" dirty="0"/>
          </a:p>
        </p:txBody>
      </p:sp>
      <p:sp>
        <p:nvSpPr>
          <p:cNvPr id="22" name="Text 20"/>
          <p:cNvSpPr txBox="1"/>
          <p:nvPr/>
        </p:nvSpPr>
        <p:spPr>
          <a:xfrm>
            <a:off x="9677095" y="6199632"/>
            <a:ext cx="1828800" cy="274320"/>
          </a:xfrm>
          <a:prstGeom prst="rect">
            <a:avLst/>
          </a:prstGeom>
          <a:noFill/>
          <a:ln/>
        </p:spPr>
        <p:txBody>
          <a:bodyPr wrap="square" lIns="0" tIns="0" rIns="0" bIns="0" rtlCol="0" anchor="ctr"/>
          <a:lstStyle/>
          <a:p>
            <a:pPr algn="r" indent="0" marL="0">
              <a:buNone/>
            </a:pPr>
            <a:r>
              <a:rPr lang="en-US" sz="1000" dirty="0">
                <a:solidFill>
                  <a:srgbClr val="7C8794"/>
                </a:solidFill>
                <a:latin typeface="Courier New" pitchFamily="34" charset="0"/>
                <a:ea typeface="Courier New" pitchFamily="34" charset="-122"/>
                <a:cs typeface="Courier New"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74320"/>
          </a:xfrm>
          <a:prstGeom prst="rect">
            <a:avLst/>
          </a:prstGeom>
          <a:noFill/>
          <a:ln/>
        </p:spPr>
        <p:txBody>
          <a:bodyPr wrap="square" lIns="0" tIns="0" rIns="0" bIns="0" rtlCol="0" anchor="ctr"/>
          <a:lstStyle/>
          <a:p>
            <a:pPr algn="l" indent="0" marL="0">
              <a:buNone/>
            </a:pPr>
            <a:r>
              <a:rPr lang="en-US" sz="1100" spc="200" kern="0" dirty="0">
                <a:solidFill>
                  <a:srgbClr val="93A0B0"/>
                </a:solidFill>
                <a:latin typeface="Courier New" pitchFamily="34" charset="0"/>
                <a:ea typeface="Courier New" pitchFamily="34" charset="-122"/>
                <a:cs typeface="Courier New" pitchFamily="34" charset="-120"/>
              </a:rPr>
              <a:t>THE STRONGEST RESULT</a:t>
            </a:r>
            <a:endParaRPr lang="en-US" sz="1100" dirty="0"/>
          </a:p>
        </p:txBody>
      </p:sp>
      <p:sp>
        <p:nvSpPr>
          <p:cNvPr id="3" name="Text 1"/>
          <p:cNvSpPr txBox="1"/>
          <p:nvPr/>
        </p:nvSpPr>
        <p:spPr>
          <a:xfrm>
            <a:off x="685800" y="868680"/>
            <a:ext cx="10820095" cy="1051560"/>
          </a:xfrm>
          <a:prstGeom prst="rect">
            <a:avLst/>
          </a:prstGeom>
          <a:noFill/>
          <a:ln/>
        </p:spPr>
        <p:txBody>
          <a:bodyPr wrap="square" lIns="0" tIns="0" rIns="0" bIns="0" rtlCol="0" anchor="t"/>
          <a:lstStyle/>
          <a:p>
            <a:pPr algn="l" indent="0" marL="0">
              <a:lnSpc>
                <a:spcPct val="105000"/>
              </a:lnSpc>
              <a:buNone/>
            </a:pPr>
            <a:r>
              <a:rPr lang="en-US" sz="3400" i="1" dirty="0">
                <a:solidFill>
                  <a:srgbClr val="E7EBF0"/>
                </a:solidFill>
                <a:latin typeface="Cambria" pitchFamily="34" charset="0"/>
                <a:ea typeface="Cambria" pitchFamily="34" charset="-122"/>
                <a:cs typeface="Cambria" pitchFamily="34" charset="-120"/>
              </a:rPr>
              <a:t>A certificate, not a p-value</a:t>
            </a:r>
            <a:endParaRPr lang="en-US" sz="3400" dirty="0"/>
          </a:p>
        </p:txBody>
      </p:sp>
      <p:sp>
        <p:nvSpPr>
          <p:cNvPr id="4" name="Text 2"/>
          <p:cNvSpPr txBox="1"/>
          <p:nvPr/>
        </p:nvSpPr>
        <p:spPr>
          <a:xfrm>
            <a:off x="685800" y="2240280"/>
            <a:ext cx="4998568" cy="1188720"/>
          </a:xfrm>
          <a:prstGeom prst="rect">
            <a:avLst/>
          </a:prstGeom>
          <a:noFill/>
          <a:ln/>
        </p:spPr>
        <p:txBody>
          <a:bodyPr wrap="square" lIns="0" tIns="0" rIns="0" bIns="0" rtlCol="0" anchor="ctr"/>
          <a:lstStyle/>
          <a:p>
            <a:pPr indent="0" marL="0">
              <a:lnSpc>
                <a:spcPct val="140000"/>
              </a:lnSpc>
              <a:buNone/>
            </a:pPr>
            <a:r>
              <a:rPr lang="en-US" sz="1500" dirty="0">
                <a:solidFill>
                  <a:srgbClr val="93A0B0"/>
                </a:solidFill>
                <a:latin typeface="Calibri" pitchFamily="34" charset="0"/>
                <a:ea typeface="Calibri" pitchFamily="34" charset="-122"/>
                <a:cs typeface="Calibri" pitchFamily="34" charset="-120"/>
              </a:rPr>
              <a:t>Say condition A beats condition B when A wins on more clips than it loses. If any single score could rank these conditions, that relation could never loop back on itself.</a:t>
            </a:r>
            <a:endParaRPr lang="en-US" sz="1500" dirty="0"/>
          </a:p>
        </p:txBody>
      </p:sp>
      <p:sp>
        <p:nvSpPr>
          <p:cNvPr id="5" name="Shape 3"/>
          <p:cNvSpPr/>
          <p:nvPr/>
        </p:nvSpPr>
        <p:spPr>
          <a:xfrm>
            <a:off x="685800" y="3520440"/>
            <a:ext cx="4998568" cy="685800"/>
          </a:xfrm>
          <a:prstGeom prst="roundRect">
            <a:avLst>
              <a:gd name="adj" fmla="val 10667"/>
            </a:avLst>
          </a:prstGeom>
          <a:solidFill>
            <a:srgbClr val="1A2029"/>
          </a:solidFill>
          <a:ln w="9525">
            <a:solidFill>
              <a:srgbClr val="2C3440"/>
            </a:solidFill>
            <a:prstDash val="solid"/>
          </a:ln>
        </p:spPr>
      </p:sp>
      <p:sp>
        <p:nvSpPr>
          <p:cNvPr id="6" name="Text 4"/>
          <p:cNvSpPr txBox="1"/>
          <p:nvPr/>
        </p:nvSpPr>
        <p:spPr>
          <a:xfrm>
            <a:off x="685800" y="3520440"/>
            <a:ext cx="4998568" cy="685800"/>
          </a:xfrm>
          <a:prstGeom prst="rect">
            <a:avLst/>
          </a:prstGeom>
          <a:noFill/>
          <a:ln/>
        </p:spPr>
        <p:txBody>
          <a:bodyPr wrap="square" lIns="0" tIns="0" rIns="0" bIns="0" rtlCol="0" anchor="ctr"/>
          <a:lstStyle/>
          <a:p>
            <a:pPr algn="ctr" indent="0" marL="0">
              <a:buNone/>
            </a:pPr>
            <a:r>
              <a:rPr lang="en-US" sz="2000" b="1" dirty="0">
                <a:solidFill>
                  <a:srgbClr val="D69A4C"/>
                </a:solidFill>
                <a:latin typeface="Courier New" pitchFamily="34" charset="0"/>
                <a:ea typeface="Courier New" pitchFamily="34" charset="-122"/>
                <a:cs typeface="Courier New" pitchFamily="34" charset="-120"/>
              </a:rPr>
              <a:t>A  &gt;  B  &gt;  C  &gt;  A</a:t>
            </a:r>
            <a:endParaRPr lang="en-US" sz="2000" dirty="0"/>
          </a:p>
        </p:txBody>
      </p:sp>
      <p:sp>
        <p:nvSpPr>
          <p:cNvPr id="7" name="Text 5"/>
          <p:cNvSpPr txBox="1"/>
          <p:nvPr/>
        </p:nvSpPr>
        <p:spPr>
          <a:xfrm>
            <a:off x="685800" y="4389120"/>
            <a:ext cx="4998568" cy="548640"/>
          </a:xfrm>
          <a:prstGeom prst="rect">
            <a:avLst/>
          </a:prstGeom>
          <a:noFill/>
          <a:ln/>
        </p:spPr>
        <p:txBody>
          <a:bodyPr wrap="square" lIns="0" tIns="0" rIns="0" bIns="0" rtlCol="0" anchor="ctr"/>
          <a:lstStyle/>
          <a:p>
            <a:pPr indent="0" marL="0">
              <a:lnSpc>
                <a:spcPct val="135000"/>
              </a:lnSpc>
              <a:buNone/>
            </a:pPr>
            <a:r>
              <a:rPr lang="en-US" sz="1600" b="1" dirty="0">
                <a:solidFill>
                  <a:srgbClr val="E7EBF0"/>
                </a:solidFill>
                <a:latin typeface="Calibri" pitchFamily="34" charset="0"/>
                <a:ea typeface="Calibri" pitchFamily="34" charset="-122"/>
                <a:cs typeface="Calibri" pitchFamily="34" charset="-120"/>
              </a:rPr>
              <a:t>We found ten of those loops. One is already enough.</a:t>
            </a:r>
            <a:endParaRPr lang="en-US" sz="1600" dirty="0"/>
          </a:p>
        </p:txBody>
      </p:sp>
      <p:sp>
        <p:nvSpPr>
          <p:cNvPr id="8" name="Text 6"/>
          <p:cNvSpPr txBox="1"/>
          <p:nvPr/>
        </p:nvSpPr>
        <p:spPr>
          <a:xfrm>
            <a:off x="6507328" y="2240280"/>
            <a:ext cx="4998568" cy="365760"/>
          </a:xfrm>
          <a:prstGeom prst="rect">
            <a:avLst/>
          </a:prstGeom>
          <a:noFill/>
          <a:ln/>
        </p:spPr>
        <p:txBody>
          <a:bodyPr wrap="square" lIns="0" tIns="0" rIns="0" bIns="0" rtlCol="0" anchor="ctr"/>
          <a:lstStyle/>
          <a:p>
            <a:pPr indent="0" marL="0">
              <a:buNone/>
            </a:pPr>
            <a:r>
              <a:rPr lang="en-US" sz="1900" b="1" dirty="0">
                <a:solidFill>
                  <a:srgbClr val="E7EBF0"/>
                </a:solidFill>
                <a:latin typeface="Calibri" pitchFamily="34" charset="0"/>
                <a:ea typeface="Calibri" pitchFamily="34" charset="-122"/>
                <a:cs typeface="Calibri" pitchFamily="34" charset="-120"/>
              </a:rPr>
              <a:t>Why this one is different</a:t>
            </a:r>
            <a:endParaRPr lang="en-US" sz="1900" dirty="0"/>
          </a:p>
        </p:txBody>
      </p:sp>
      <p:sp>
        <p:nvSpPr>
          <p:cNvPr id="9" name="Text 7"/>
          <p:cNvSpPr txBox="1"/>
          <p:nvPr/>
        </p:nvSpPr>
        <p:spPr>
          <a:xfrm>
            <a:off x="6507328" y="2697480"/>
            <a:ext cx="4998568" cy="1371600"/>
          </a:xfrm>
          <a:prstGeom prst="rect">
            <a:avLst/>
          </a:prstGeom>
          <a:noFill/>
          <a:ln/>
        </p:spPr>
        <p:txBody>
          <a:bodyPr wrap="square" lIns="0" tIns="0" rIns="0" bIns="0" rtlCol="0" anchor="ctr"/>
          <a:lstStyle/>
          <a:p>
            <a:pPr indent="0" marL="0">
              <a:lnSpc>
                <a:spcPct val="140000"/>
              </a:lnSpc>
              <a:buNone/>
            </a:pPr>
            <a:r>
              <a:rPr lang="en-US" sz="1500" dirty="0">
                <a:solidFill>
                  <a:srgbClr val="93A0B0"/>
                </a:solidFill>
                <a:latin typeface="Calibri" pitchFamily="34" charset="0"/>
                <a:ea typeface="Calibri" pitchFamily="34" charset="-122"/>
                <a:cs typeface="Calibri" pitchFamily="34" charset="-120"/>
              </a:rPr>
              <a:t>Every other result here is a statistical estimate, and estimates can be underpowered. This is a proof by counterexample: it rules out the existence of a scalar stability index over these conditions outright.</a:t>
            </a:r>
            <a:endParaRPr lang="en-US" sz="1500" dirty="0"/>
          </a:p>
        </p:txBody>
      </p:sp>
      <p:sp>
        <p:nvSpPr>
          <p:cNvPr id="10" name="Text 8"/>
          <p:cNvSpPr txBox="1"/>
          <p:nvPr/>
        </p:nvSpPr>
        <p:spPr>
          <a:xfrm>
            <a:off x="6507328" y="4160520"/>
            <a:ext cx="4998568" cy="731520"/>
          </a:xfrm>
          <a:prstGeom prst="rect">
            <a:avLst/>
          </a:prstGeom>
          <a:noFill/>
          <a:ln/>
        </p:spPr>
        <p:txBody>
          <a:bodyPr wrap="square" lIns="0" tIns="0" rIns="0" bIns="0" rtlCol="0" anchor="ctr"/>
          <a:lstStyle/>
          <a:p>
            <a:pPr indent="0" marL="0">
              <a:lnSpc>
                <a:spcPct val="140000"/>
              </a:lnSpc>
              <a:buNone/>
            </a:pPr>
            <a:r>
              <a:rPr lang="en-US" sz="1500" dirty="0">
                <a:solidFill>
                  <a:srgbClr val="93A0B0"/>
                </a:solidFill>
                <a:latin typeface="Calibri" pitchFamily="34" charset="0"/>
                <a:ea typeface="Calibri" pitchFamily="34" charset="-122"/>
                <a:cs typeface="Calibri" pitchFamily="34" charset="-120"/>
              </a:rPr>
              <a:t>No sample-size caveat attaches to a refutation. The loops are in the data.</a:t>
            </a:r>
            <a:endParaRPr lang="en-US" sz="1500" dirty="0"/>
          </a:p>
        </p:txBody>
      </p:sp>
      <p:sp>
        <p:nvSpPr>
          <p:cNvPr id="11" name="Text 9"/>
          <p:cNvSpPr txBox="1"/>
          <p:nvPr/>
        </p:nvSpPr>
        <p:spPr>
          <a:xfrm>
            <a:off x="685800" y="6199632"/>
            <a:ext cx="5486400" cy="274320"/>
          </a:xfrm>
          <a:prstGeom prst="rect">
            <a:avLst/>
          </a:prstGeom>
          <a:noFill/>
          <a:ln/>
        </p:spPr>
        <p:txBody>
          <a:bodyPr wrap="square" lIns="0" tIns="0" rIns="0" bIns="0" rtlCol="0" anchor="ctr"/>
          <a:lstStyle/>
          <a:p>
            <a:pPr algn="l" indent="0" marL="0">
              <a:buNone/>
            </a:pPr>
            <a:r>
              <a:rPr lang="en-US" sz="1000" dirty="0">
                <a:solidFill>
                  <a:srgbClr val="8794A4"/>
                </a:solidFill>
                <a:latin typeface="Courier New" pitchFamily="34" charset="0"/>
                <a:ea typeface="Courier New" pitchFamily="34" charset="-122"/>
                <a:cs typeface="Courier New" pitchFamily="34" charset="-120"/>
              </a:rPr>
              <a:t>Intransitivity</a:t>
            </a:r>
            <a:endParaRPr lang="en-US" sz="1000" dirty="0"/>
          </a:p>
        </p:txBody>
      </p:sp>
      <p:sp>
        <p:nvSpPr>
          <p:cNvPr id="12" name="Text 10"/>
          <p:cNvSpPr txBox="1"/>
          <p:nvPr/>
        </p:nvSpPr>
        <p:spPr>
          <a:xfrm>
            <a:off x="9677095" y="6199632"/>
            <a:ext cx="1828800" cy="274320"/>
          </a:xfrm>
          <a:prstGeom prst="rect">
            <a:avLst/>
          </a:prstGeom>
          <a:noFill/>
          <a:ln/>
        </p:spPr>
        <p:txBody>
          <a:bodyPr wrap="square" lIns="0" tIns="0" rIns="0" bIns="0" rtlCol="0" anchor="ctr"/>
          <a:lstStyle/>
          <a:p>
            <a:pPr algn="r" indent="0" marL="0">
              <a:buNone/>
            </a:pPr>
            <a:r>
              <a:rPr lang="en-US" sz="1000" dirty="0">
                <a:solidFill>
                  <a:srgbClr val="8794A4"/>
                </a:solidFill>
                <a:latin typeface="Courier New" pitchFamily="34" charset="0"/>
                <a:ea typeface="Courier New" pitchFamily="34" charset="-122"/>
                <a:cs typeface="Courier New"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F1F4"/>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74320"/>
          </a:xfrm>
          <a:prstGeom prst="rect">
            <a:avLst/>
          </a:prstGeom>
          <a:noFill/>
          <a:ln/>
        </p:spPr>
        <p:txBody>
          <a:bodyPr wrap="square" lIns="0" tIns="0" rIns="0" bIns="0" rtlCol="0" anchor="ctr"/>
          <a:lstStyle/>
          <a:p>
            <a:pPr algn="l" indent="0" marL="0">
              <a:buNone/>
            </a:pPr>
            <a:r>
              <a:rPr lang="en-US" sz="1100" spc="200" kern="0" dirty="0">
                <a:solidFill>
                  <a:srgbClr val="5B6472"/>
                </a:solidFill>
                <a:latin typeface="Courier New" pitchFamily="34" charset="0"/>
                <a:ea typeface="Courier New" pitchFamily="34" charset="-122"/>
                <a:cs typeface="Courier New" pitchFamily="34" charset="-120"/>
              </a:rPr>
              <a:t>FINDING 3</a:t>
            </a:r>
            <a:endParaRPr lang="en-US" sz="1100" dirty="0"/>
          </a:p>
        </p:txBody>
      </p:sp>
      <p:sp>
        <p:nvSpPr>
          <p:cNvPr id="3" name="Text 1"/>
          <p:cNvSpPr txBox="1"/>
          <p:nvPr/>
        </p:nvSpPr>
        <p:spPr>
          <a:xfrm>
            <a:off x="685800" y="868680"/>
            <a:ext cx="10820095" cy="1051560"/>
          </a:xfrm>
          <a:prstGeom prst="rect">
            <a:avLst/>
          </a:prstGeom>
          <a:noFill/>
          <a:ln/>
        </p:spPr>
        <p:txBody>
          <a:bodyPr wrap="square" lIns="0" tIns="0" rIns="0" bIns="0" rtlCol="0" anchor="t"/>
          <a:lstStyle/>
          <a:p>
            <a:pPr algn="l" indent="0" marL="0">
              <a:lnSpc>
                <a:spcPct val="105000"/>
              </a:lnSpc>
              <a:buNone/>
            </a:pPr>
            <a:r>
              <a:rPr lang="en-US" sz="3400" i="1" dirty="0">
                <a:solidFill>
                  <a:srgbClr val="161B22"/>
                </a:solidFill>
                <a:latin typeface="Cambria" pitchFamily="34" charset="0"/>
                <a:ea typeface="Cambria" pitchFamily="34" charset="-122"/>
                <a:cs typeface="Cambria" pitchFamily="34" charset="-120"/>
              </a:rPr>
              <a:t>Three predictor families, three disjoint intervals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2148840"/>
          <a:ext cx="10820095" cy="914400"/>
        </p:xfrm>
        <a:graphic>
          <a:graphicData uri="http://schemas.openxmlformats.org/drawingml/2006/table">
            <a:tbl>
              <a:tblPr/>
              <a:tblGrid>
                <a:gridCol w="2834640"/>
                <a:gridCol w="3200400"/>
                <a:gridCol w="1188720"/>
                <a:gridCol w="1188720"/>
                <a:gridCol w="1005840"/>
                <a:gridCol w="1399032"/>
              </a:tblGrid>
              <a:tr h="475488">
                <a:tc>
                  <a:txBody>
                    <a:bodyPr/>
                    <a:lstStyle/>
                    <a:p>
                      <a:pPr algn="l" indent="0" marL="0">
                        <a:buNone/>
                      </a:pPr>
                      <a:r>
                        <a:rPr lang="en-US" sz="1200" b="1" dirty="0">
                          <a:solidFill>
                            <a:srgbClr val="5B6472"/>
                          </a:solidFill>
                          <a:latin typeface="Calibri" pitchFamily="34" charset="0"/>
                          <a:ea typeface="Calibri" pitchFamily="34" charset="-122"/>
                          <a:cs typeface="Calibri" pitchFamily="34" charset="-120"/>
                        </a:rPr>
                        <a:t>Family</a:t>
                      </a:r>
                      <a:endParaRPr lang="en-US" sz="12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solidFill>
                      <a:srgbClr val="EEF1F4"/>
                    </a:solidFill>
                  </a:tcPr>
                </a:tc>
                <a:tc>
                  <a:txBody>
                    <a:bodyPr/>
                    <a:lstStyle/>
                    <a:p>
                      <a:pPr algn="l" indent="0" marL="0">
                        <a:buNone/>
                      </a:pPr>
                      <a:r>
                        <a:rPr lang="en-US" sz="1200" b="1" dirty="0">
                          <a:solidFill>
                            <a:srgbClr val="5B6472"/>
                          </a:solidFill>
                          <a:latin typeface="Calibri" pitchFamily="34" charset="0"/>
                          <a:ea typeface="Calibri" pitchFamily="34" charset="-122"/>
                          <a:cs typeface="Calibri" pitchFamily="34" charset="-120"/>
                        </a:rPr>
                        <a:t>Regime</a:t>
                      </a:r>
                      <a:endParaRPr lang="en-US" sz="12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solidFill>
                      <a:srgbClr val="EEF1F4"/>
                    </a:solidFill>
                  </a:tcPr>
                </a:tc>
                <a:tc>
                  <a:txBody>
                    <a:bodyPr/>
                    <a:lstStyle/>
                    <a:p>
                      <a:pPr algn="r" indent="0" marL="0">
                        <a:buNone/>
                      </a:pPr>
                      <a:r>
                        <a:rPr lang="en-US" sz="1200" b="1" dirty="0">
                          <a:solidFill>
                            <a:srgbClr val="5B6472"/>
                          </a:solidFill>
                          <a:latin typeface="Calibri" pitchFamily="34" charset="0"/>
                          <a:ea typeface="Calibri" pitchFamily="34" charset="-122"/>
                          <a:cs typeface="Calibri" pitchFamily="34" charset="-120"/>
                        </a:rPr>
                        <a:t>Latent</a:t>
                      </a:r>
                      <a:endParaRPr lang="en-US" sz="12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solidFill>
                      <a:srgbClr val="EEF1F4"/>
                    </a:solidFill>
                  </a:tcPr>
                </a:tc>
                <a:tc>
                  <a:txBody>
                    <a:bodyPr/>
                    <a:lstStyle/>
                    <a:p>
                      <a:pPr algn="r" indent="0" marL="0">
                        <a:buNone/>
                      </a:pPr>
                      <a:r>
                        <a:rPr lang="en-US" sz="1200" b="1" dirty="0">
                          <a:solidFill>
                            <a:srgbClr val="5B6472"/>
                          </a:solidFill>
                          <a:latin typeface="Calibri" pitchFamily="34" charset="0"/>
                          <a:ea typeface="Calibri" pitchFamily="34" charset="-122"/>
                          <a:cs typeface="Calibri" pitchFamily="34" charset="-120"/>
                        </a:rPr>
                        <a:t>Pixel</a:t>
                      </a:r>
                      <a:endParaRPr lang="en-US" sz="12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solidFill>
                      <a:srgbClr val="EEF1F4"/>
                    </a:solidFill>
                  </a:tcPr>
                </a:tc>
                <a:tc>
                  <a:txBody>
                    <a:bodyPr/>
                    <a:lstStyle/>
                    <a:p>
                      <a:pPr algn="r" indent="0" marL="0">
                        <a:buNone/>
                      </a:pPr>
                      <a:r>
                        <a:rPr lang="en-US" sz="1200" b="1" dirty="0">
                          <a:solidFill>
                            <a:srgbClr val="5B6472"/>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solidFill>
                      <a:srgbClr val="EEF1F4"/>
                    </a:solidFill>
                  </a:tcPr>
                </a:tc>
                <a:tc>
                  <a:txBody>
                    <a:bodyPr/>
                    <a:lstStyle/>
                    <a:p>
                      <a:pPr algn="r" indent="0" marL="0">
                        <a:buNone/>
                      </a:pPr>
                      <a:r>
                        <a:rPr lang="en-US" sz="1200" b="1" dirty="0">
                          <a:solidFill>
                            <a:srgbClr val="5B6472"/>
                          </a:solidFill>
                          <a:latin typeface="Calibri" pitchFamily="34" charset="0"/>
                          <a:ea typeface="Calibri" pitchFamily="34" charset="-122"/>
                          <a:cs typeface="Calibri" pitchFamily="34" charset="-120"/>
                        </a:rPr>
                        <a:t>95% CI</a:t>
                      </a:r>
                      <a:endParaRPr lang="en-US" sz="12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solidFill>
                      <a:srgbClr val="EEF1F4"/>
                    </a:solidFill>
                  </a:tcPr>
                </a:tc>
              </a:tr>
              <a:tr h="475488">
                <a:tc>
                  <a:txBody>
                    <a:bodyPr/>
                    <a:lstStyle/>
                    <a:p>
                      <a:pPr algn="l" indent="0" marL="0">
                        <a:buNone/>
                      </a:pPr>
                      <a:r>
                        <a:rPr lang="en-US" sz="1300" b="1" dirty="0">
                          <a:solidFill>
                            <a:srgbClr val="4A94EE"/>
                          </a:solidFill>
                          <a:latin typeface="Calibri" pitchFamily="34" charset="0"/>
                          <a:ea typeface="Calibri" pitchFamily="34" charset="-122"/>
                          <a:cs typeface="Calibri" pitchFamily="34" charset="-120"/>
                        </a:rPr>
                        <a:t>V-JEPA2</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l" indent="0" marL="0">
                        <a:buNone/>
                      </a:pPr>
                      <a:r>
                        <a:rPr lang="en-US" sz="1300" dirty="0">
                          <a:solidFill>
                            <a:srgbClr val="5B6472"/>
                          </a:solidFill>
                          <a:latin typeface="Calibri" pitchFamily="34" charset="0"/>
                          <a:ea typeface="Calibri" pitchFamily="34" charset="-122"/>
                          <a:cs typeface="Calibri" pitchFamily="34" charset="-120"/>
                        </a:rPr>
                        <a:t>frozen, queried out of distribution</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r" indent="0" marL="0">
                        <a:buNone/>
                      </a:pPr>
                      <a:r>
                        <a:rPr lang="en-US" sz="1300" dirty="0">
                          <a:solidFill>
                            <a:srgbClr val="161B22"/>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r" indent="0" marL="0">
                        <a:buNone/>
                      </a:pPr>
                      <a:r>
                        <a:rPr lang="en-US" sz="1300" dirty="0">
                          <a:solidFill>
                            <a:srgbClr val="161B22"/>
                          </a:solidFill>
                          <a:latin typeface="Calibri" pitchFamily="34" charset="0"/>
                          <a:ea typeface="Calibri" pitchFamily="34" charset="-122"/>
                          <a:cs typeface="Calibri" pitchFamily="34" charset="-120"/>
                        </a:rPr>
                        <a:t>12.0%</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r" indent="0" marL="0">
                        <a:buNone/>
                      </a:pPr>
                      <a:r>
                        <a:rPr lang="en-US" sz="1300" b="1" dirty="0">
                          <a:solidFill>
                            <a:srgbClr val="4A94EE"/>
                          </a:solidFill>
                          <a:latin typeface="Calibri" pitchFamily="34" charset="0"/>
                          <a:ea typeface="Calibri" pitchFamily="34" charset="-122"/>
                          <a:cs typeface="Calibri" pitchFamily="34" charset="-120"/>
                        </a:rPr>
                        <a:t>6.10</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r" indent="0" marL="0">
                        <a:buNone/>
                      </a:pPr>
                      <a:r>
                        <a:rPr lang="en-US" sz="1300" dirty="0">
                          <a:solidFill>
                            <a:srgbClr val="5B6472"/>
                          </a:solidFill>
                          <a:latin typeface="Calibri" pitchFamily="34" charset="0"/>
                          <a:ea typeface="Calibri" pitchFamily="34" charset="-122"/>
                          <a:cs typeface="Calibri" pitchFamily="34" charset="-120"/>
                        </a:rPr>
                        <a:t>[2.03, 14.00]</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r>
              <a:tr h="475488">
                <a:tc>
                  <a:txBody>
                    <a:bodyPr/>
                    <a:lstStyle/>
                    <a:p>
                      <a:pPr algn="l" indent="0" marL="0">
                        <a:buNone/>
                      </a:pPr>
                      <a:r>
                        <a:rPr lang="en-US" sz="1300" b="1" dirty="0">
                          <a:solidFill>
                            <a:srgbClr val="6FC791"/>
                          </a:solidFill>
                          <a:latin typeface="Calibri" pitchFamily="34" charset="0"/>
                          <a:ea typeface="Calibri" pitchFamily="34" charset="-122"/>
                          <a:cs typeface="Calibri" pitchFamily="34" charset="-120"/>
                        </a:rPr>
                        <a:t>DINOv2 + trained MLP</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l" indent="0" marL="0">
                        <a:buNone/>
                      </a:pPr>
                      <a:r>
                        <a:rPr lang="en-US" sz="1300" dirty="0">
                          <a:solidFill>
                            <a:srgbClr val="5B6472"/>
                          </a:solidFill>
                          <a:latin typeface="Calibri" pitchFamily="34" charset="0"/>
                          <a:ea typeface="Calibri" pitchFamily="34" charset="-122"/>
                          <a:cs typeface="Calibri" pitchFamily="34" charset="-120"/>
                        </a:rPr>
                        <a:t>frozen encoder, predictor trained here</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r" indent="0" marL="0">
                        <a:buNone/>
                      </a:pPr>
                      <a:r>
                        <a:rPr lang="en-US" sz="1300" dirty="0">
                          <a:solidFill>
                            <a:srgbClr val="161B22"/>
                          </a:solidFill>
                          <a:latin typeface="Calibri" pitchFamily="34" charset="0"/>
                          <a:ea typeface="Calibri" pitchFamily="34" charset="-122"/>
                          <a:cs typeface="Calibri" pitchFamily="34" charset="-120"/>
                        </a:rPr>
                        <a:t>34.3%</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r" indent="0" marL="0">
                        <a:buNone/>
                      </a:pPr>
                      <a:r>
                        <a:rPr lang="en-US" sz="1300" dirty="0">
                          <a:solidFill>
                            <a:srgbClr val="161B22"/>
                          </a:solidFill>
                          <a:latin typeface="Calibri" pitchFamily="34" charset="0"/>
                          <a:ea typeface="Calibri" pitchFamily="34" charset="-122"/>
                          <a:cs typeface="Calibri" pitchFamily="34" charset="-120"/>
                        </a:rPr>
                        <a:t>9.9%</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r" indent="0" marL="0">
                        <a:buNone/>
                      </a:pPr>
                      <a:r>
                        <a:rPr lang="en-US" sz="1300" b="1" dirty="0">
                          <a:solidFill>
                            <a:srgbClr val="6FC791"/>
                          </a:solidFill>
                          <a:latin typeface="Calibri" pitchFamily="34" charset="0"/>
                          <a:ea typeface="Calibri" pitchFamily="34" charset="-122"/>
                          <a:cs typeface="Calibri" pitchFamily="34" charset="-120"/>
                        </a:rPr>
                        <a:t>0.29</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r" indent="0" marL="0">
                        <a:buNone/>
                      </a:pPr>
                      <a:r>
                        <a:rPr lang="en-US" sz="1300" dirty="0">
                          <a:solidFill>
                            <a:srgbClr val="5B6472"/>
                          </a:solidFill>
                          <a:latin typeface="Calibri" pitchFamily="34" charset="0"/>
                          <a:ea typeface="Calibri" pitchFamily="34" charset="-122"/>
                          <a:cs typeface="Calibri" pitchFamily="34" charset="-120"/>
                        </a:rPr>
                        <a:t>[0.20, 0.42]</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r>
              <a:tr h="475488">
                <a:tc>
                  <a:txBody>
                    <a:bodyPr/>
                    <a:lstStyle/>
                    <a:p>
                      <a:pPr algn="l" indent="0" marL="0">
                        <a:buNone/>
                      </a:pPr>
                      <a:r>
                        <a:rPr lang="en-US" sz="1300" b="1" dirty="0">
                          <a:solidFill>
                            <a:srgbClr val="D69A4C"/>
                          </a:solidFill>
                          <a:latin typeface="Calibri" pitchFamily="34" charset="0"/>
                          <a:ea typeface="Calibri" pitchFamily="34" charset="-122"/>
                          <a:cs typeface="Calibri" pitchFamily="34" charset="-120"/>
                        </a:rPr>
                        <a:t>LeWM-style, from scratch</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l" indent="0" marL="0">
                        <a:buNone/>
                      </a:pPr>
                      <a:r>
                        <a:rPr lang="en-US" sz="1300" dirty="0">
                          <a:solidFill>
                            <a:srgbClr val="5B6472"/>
                          </a:solidFill>
                          <a:latin typeface="Calibri" pitchFamily="34" charset="0"/>
                          <a:ea typeface="Calibri" pitchFamily="34" charset="-122"/>
                          <a:cs typeface="Calibri" pitchFamily="34" charset="-120"/>
                        </a:rPr>
                        <a:t>encoder and predictor trained jointly</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r" indent="0" marL="0">
                        <a:buNone/>
                      </a:pPr>
                      <a:r>
                        <a:rPr lang="en-US" sz="1300" dirty="0">
                          <a:solidFill>
                            <a:srgbClr val="161B22"/>
                          </a:solidFill>
                          <a:latin typeface="Calibri" pitchFamily="34" charset="0"/>
                          <a:ea typeface="Calibri" pitchFamily="34" charset="-122"/>
                          <a:cs typeface="Calibri" pitchFamily="34" charset="-120"/>
                        </a:rPr>
                        <a:t>66.0%</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r" indent="0" marL="0">
                        <a:buNone/>
                      </a:pPr>
                      <a:r>
                        <a:rPr lang="en-US" sz="1300" dirty="0">
                          <a:solidFill>
                            <a:srgbClr val="161B22"/>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r" indent="0" marL="0">
                        <a:buNone/>
                      </a:pPr>
                      <a:r>
                        <a:rPr lang="en-US" sz="1300" b="1" dirty="0">
                          <a:solidFill>
                            <a:srgbClr val="D69A4C"/>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c>
                  <a:txBody>
                    <a:bodyPr/>
                    <a:lstStyle/>
                    <a:p>
                      <a:pPr algn="r" indent="0" marL="0">
                        <a:buNone/>
                      </a:pPr>
                      <a:r>
                        <a:rPr lang="en-US" sz="1300" dirty="0">
                          <a:solidFill>
                            <a:srgbClr val="5B6472"/>
                          </a:solidFill>
                          <a:latin typeface="Calibri" pitchFamily="34" charset="0"/>
                          <a:ea typeface="Calibri" pitchFamily="34" charset="-122"/>
                          <a:cs typeface="Calibri" pitchFamily="34" charset="-120"/>
                        </a:rPr>
                        <a:t>[0.026, 0.132]</a:t>
                      </a:r>
                      <a:endParaRPr lang="en-US" sz="1300" dirty="0">
                        <a:latin typeface="Calibri" charset="0"/>
                        <a:ea typeface="Calibri" charset="0"/>
                        <a:cs typeface="Calibri" charset="0"/>
                      </a:endParaRPr>
                    </a:p>
                  </a:txBody>
                  <a:tcPr marL="73152" marR="73152" marT="73152" marB="73152" anchor="ctr">
                    <a:lnL w="6350" cap="flat" cmpd="sng" algn="ctr">
                      <a:solidFill>
                        <a:srgbClr val="CCD4DC"/>
                      </a:solidFill>
                      <a:prstDash val="solid"/>
                      <a:round/>
                      <a:headEnd type="none" w="med" len="med"/>
                      <a:tailEnd type="none" w="med" len="med"/>
                    </a:lnL>
                    <a:lnR w="6350" cap="flat" cmpd="sng" algn="ctr">
                      <a:solidFill>
                        <a:srgbClr val="CCD4DC"/>
                      </a:solidFill>
                      <a:prstDash val="solid"/>
                      <a:round/>
                      <a:headEnd type="none" w="med" len="med"/>
                      <a:tailEnd type="none" w="med" len="med"/>
                    </a:lnR>
                    <a:lnT w="6350" cap="flat" cmpd="sng" algn="ctr">
                      <a:solidFill>
                        <a:srgbClr val="CCD4DC"/>
                      </a:solidFill>
                      <a:prstDash val="solid"/>
                      <a:round/>
                      <a:headEnd type="none" w="med" len="med"/>
                      <a:tailEnd type="none" w="med" len="med"/>
                    </a:lnT>
                    <a:lnB w="6350" cap="flat" cmpd="sng" algn="ctr">
                      <a:solidFill>
                        <a:srgbClr val="CCD4DC"/>
                      </a:solidFill>
                      <a:prstDash val="solid"/>
                      <a:round/>
                      <a:headEnd type="none" w="med" len="med"/>
                      <a:tailEnd type="none" w="med" len="med"/>
                    </a:lnB>
                  </a:tcPr>
                </a:tc>
              </a:tr>
            </a:tbl>
          </a:graphicData>
        </a:graphic>
      </p:graphicFrame>
      <p:sp>
        <p:nvSpPr>
          <p:cNvPr id="5" name="Text 2"/>
          <p:cNvSpPr txBox="1"/>
          <p:nvPr/>
        </p:nvSpPr>
        <p:spPr>
          <a:xfrm>
            <a:off x="685800" y="4343400"/>
            <a:ext cx="10515600" cy="1005840"/>
          </a:xfrm>
          <a:prstGeom prst="rect">
            <a:avLst/>
          </a:prstGeom>
          <a:noFill/>
          <a:ln/>
        </p:spPr>
        <p:txBody>
          <a:bodyPr wrap="square" lIns="0" tIns="0" rIns="0" bIns="0" rtlCol="0" anchor="ctr"/>
          <a:lstStyle/>
          <a:p>
            <a:pPr indent="0" marL="0">
              <a:lnSpc>
                <a:spcPct val="140000"/>
              </a:lnSpc>
              <a:buNone/>
            </a:pPr>
            <a:r>
              <a:rPr lang="en-US" sz="1400" dirty="0">
                <a:solidFill>
                  <a:srgbClr val="5B6472"/>
                </a:solidFill>
                <a:latin typeface="Calibri" pitchFamily="34" charset="0"/>
                <a:ea typeface="Calibri" pitchFamily="34" charset="-122"/>
                <a:cs typeface="Calibri" pitchFamily="34" charset="-120"/>
              </a:rPr>
              <a:t>All three intervals are disjoint from each other and from 1.0. The direction of the gap tracks how the predictor relates to its query, frozen and asked something it was never trained on, versus trained toward exactly what is being measured. It is not a property of any one architecture.</a:t>
            </a:r>
            <a:endParaRPr lang="en-US" sz="1400" dirty="0"/>
          </a:p>
        </p:txBody>
      </p:sp>
      <p:sp>
        <p:nvSpPr>
          <p:cNvPr id="6" name="Text 3"/>
          <p:cNvSpPr txBox="1"/>
          <p:nvPr/>
        </p:nvSpPr>
        <p:spPr>
          <a:xfrm>
            <a:off x="685800" y="6199632"/>
            <a:ext cx="5486400" cy="274320"/>
          </a:xfrm>
          <a:prstGeom prst="rect">
            <a:avLst/>
          </a:prstGeom>
          <a:noFill/>
          <a:ln/>
        </p:spPr>
        <p:txBody>
          <a:bodyPr wrap="square" lIns="0" tIns="0" rIns="0" bIns="0" rtlCol="0" anchor="ctr"/>
          <a:lstStyle/>
          <a:p>
            <a:pPr algn="l" indent="0" marL="0">
              <a:buNone/>
            </a:pPr>
            <a:r>
              <a:rPr lang="en-US" sz="1000" dirty="0">
                <a:solidFill>
                  <a:srgbClr val="7C8794"/>
                </a:solidFill>
                <a:latin typeface="Courier New" pitchFamily="34" charset="0"/>
                <a:ea typeface="Courier New" pitchFamily="34" charset="-122"/>
                <a:cs typeface="Courier New" pitchFamily="34" charset="-120"/>
              </a:rPr>
              <a:t>Generalisation</a:t>
            </a:r>
            <a:endParaRPr lang="en-US" sz="1000" dirty="0"/>
          </a:p>
        </p:txBody>
      </p:sp>
      <p:sp>
        <p:nvSpPr>
          <p:cNvPr id="7" name="Text 4"/>
          <p:cNvSpPr txBox="1"/>
          <p:nvPr/>
        </p:nvSpPr>
        <p:spPr>
          <a:xfrm>
            <a:off x="9677095" y="6199632"/>
            <a:ext cx="1828800" cy="274320"/>
          </a:xfrm>
          <a:prstGeom prst="rect">
            <a:avLst/>
          </a:prstGeom>
          <a:noFill/>
          <a:ln/>
        </p:spPr>
        <p:txBody>
          <a:bodyPr wrap="square" lIns="0" tIns="0" rIns="0" bIns="0" rtlCol="0" anchor="ctr"/>
          <a:lstStyle/>
          <a:p>
            <a:pPr algn="r" indent="0" marL="0">
              <a:buNone/>
            </a:pPr>
            <a:r>
              <a:rPr lang="en-US" sz="1000" dirty="0">
                <a:solidFill>
                  <a:srgbClr val="7C8794"/>
                </a:solidFill>
                <a:latin typeface="Courier New" pitchFamily="34" charset="0"/>
                <a:ea typeface="Courier New" pitchFamily="34" charset="-122"/>
                <a:cs typeface="Courier New"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74320"/>
          </a:xfrm>
          <a:prstGeom prst="rect">
            <a:avLst/>
          </a:prstGeom>
          <a:noFill/>
          <a:ln/>
        </p:spPr>
        <p:txBody>
          <a:bodyPr wrap="square" lIns="0" tIns="0" rIns="0" bIns="0" rtlCol="0" anchor="ctr"/>
          <a:lstStyle/>
          <a:p>
            <a:pPr algn="l" indent="0" marL="0">
              <a:buNone/>
            </a:pPr>
            <a:r>
              <a:rPr lang="en-US" sz="1100" spc="200" kern="0" dirty="0">
                <a:solidFill>
                  <a:srgbClr val="93A0B0"/>
                </a:solidFill>
                <a:latin typeface="Courier New" pitchFamily="34" charset="0"/>
                <a:ea typeface="Courier New" pitchFamily="34" charset="-122"/>
                <a:cs typeface="Courier New" pitchFamily="34" charset="-120"/>
              </a:rPr>
              <a:t>WHAT WE DO NOT CLAIM</a:t>
            </a:r>
            <a:endParaRPr lang="en-US" sz="1100" dirty="0"/>
          </a:p>
        </p:txBody>
      </p:sp>
      <p:sp>
        <p:nvSpPr>
          <p:cNvPr id="3" name="Text 1"/>
          <p:cNvSpPr txBox="1"/>
          <p:nvPr/>
        </p:nvSpPr>
        <p:spPr>
          <a:xfrm>
            <a:off x="685800" y="868680"/>
            <a:ext cx="10820095" cy="1051560"/>
          </a:xfrm>
          <a:prstGeom prst="rect">
            <a:avLst/>
          </a:prstGeom>
          <a:noFill/>
          <a:ln/>
        </p:spPr>
        <p:txBody>
          <a:bodyPr wrap="square" lIns="0" tIns="0" rIns="0" bIns="0" rtlCol="0" anchor="t"/>
          <a:lstStyle/>
          <a:p>
            <a:pPr algn="l" indent="0" marL="0">
              <a:lnSpc>
                <a:spcPct val="105000"/>
              </a:lnSpc>
              <a:buNone/>
            </a:pPr>
            <a:r>
              <a:rPr lang="en-US" sz="3400" i="1" dirty="0">
                <a:solidFill>
                  <a:srgbClr val="E7EBF0"/>
                </a:solidFill>
                <a:latin typeface="Cambria" pitchFamily="34" charset="0"/>
                <a:ea typeface="Cambria" pitchFamily="34" charset="-122"/>
                <a:cs typeface="Cambria" pitchFamily="34" charset="-120"/>
              </a:rPr>
              <a:t>The boundaries, stated before anyone asks</a:t>
            </a:r>
            <a:endParaRPr lang="en-US" sz="3400" dirty="0"/>
          </a:p>
        </p:txBody>
      </p:sp>
      <p:sp>
        <p:nvSpPr>
          <p:cNvPr id="4" name="Shape 2"/>
          <p:cNvSpPr/>
          <p:nvPr/>
        </p:nvSpPr>
        <p:spPr>
          <a:xfrm>
            <a:off x="685800" y="2194560"/>
            <a:ext cx="10820095" cy="777240"/>
          </a:xfrm>
          <a:prstGeom prst="roundRect">
            <a:avLst>
              <a:gd name="adj" fmla="val 9412"/>
            </a:avLst>
          </a:prstGeom>
          <a:solidFill>
            <a:srgbClr val="1A2029"/>
          </a:solidFill>
          <a:ln w="9525">
            <a:solidFill>
              <a:srgbClr val="2C3440"/>
            </a:solidFill>
            <a:prstDash val="solid"/>
          </a:ln>
        </p:spPr>
      </p:sp>
      <p:sp>
        <p:nvSpPr>
          <p:cNvPr id="5" name="Text 3"/>
          <p:cNvSpPr txBox="1"/>
          <p:nvPr/>
        </p:nvSpPr>
        <p:spPr>
          <a:xfrm>
            <a:off x="1005840" y="2249424"/>
            <a:ext cx="3566160" cy="667512"/>
          </a:xfrm>
          <a:prstGeom prst="rect">
            <a:avLst/>
          </a:prstGeom>
          <a:noFill/>
          <a:ln/>
        </p:spPr>
        <p:txBody>
          <a:bodyPr wrap="square" lIns="0" tIns="0" rIns="0" bIns="0" rtlCol="0" anchor="ctr"/>
          <a:lstStyle/>
          <a:p>
            <a:pPr indent="0" marL="0">
              <a:lnSpc>
                <a:spcPct val="120000"/>
              </a:lnSpc>
              <a:buNone/>
            </a:pPr>
            <a:r>
              <a:rPr lang="en-US" sz="1450" b="1" dirty="0">
                <a:solidFill>
                  <a:srgbClr val="E7EBF0"/>
                </a:solidFill>
                <a:latin typeface="Calibri" pitchFamily="34" charset="0"/>
                <a:ea typeface="Calibri" pitchFamily="34" charset="-122"/>
                <a:cs typeface="Calibri" pitchFamily="34" charset="-120"/>
              </a:rPr>
              <a:t>Counterfactual faithfulness is untested</a:t>
            </a:r>
            <a:endParaRPr lang="en-US" sz="1450" dirty="0"/>
          </a:p>
        </p:txBody>
      </p:sp>
      <p:sp>
        <p:nvSpPr>
          <p:cNvPr id="6" name="Text 4"/>
          <p:cNvSpPr txBox="1"/>
          <p:nvPr/>
        </p:nvSpPr>
        <p:spPr>
          <a:xfrm>
            <a:off x="4754880" y="2249424"/>
            <a:ext cx="6430975" cy="667512"/>
          </a:xfrm>
          <a:prstGeom prst="rect">
            <a:avLst/>
          </a:prstGeom>
          <a:noFill/>
          <a:ln/>
        </p:spPr>
        <p:txBody>
          <a:bodyPr wrap="square" lIns="0" tIns="0" rIns="0" bIns="0" rtlCol="0" anchor="ctr"/>
          <a:lstStyle/>
          <a:p>
            <a:pPr indent="0" marL="0">
              <a:lnSpc>
                <a:spcPct val="125000"/>
              </a:lnSpc>
              <a:buNone/>
            </a:pPr>
            <a:r>
              <a:rPr lang="en-US" sz="1250" dirty="0">
                <a:solidFill>
                  <a:srgbClr val="93A0B0"/>
                </a:solidFill>
                <a:latin typeface="Calibri" pitchFamily="34" charset="0"/>
                <a:ea typeface="Calibri" pitchFamily="34" charset="-122"/>
                <a:cs typeface="Calibri" pitchFamily="34" charset="-120"/>
              </a:rPr>
              <a:t>Everything here is about a fixed, non action-conditioned rollout. Whether the predictor responds correctly to different actions needs V-JEPA2-AC and a robot-trajectory dataset.</a:t>
            </a:r>
            <a:endParaRPr lang="en-US" sz="1250" dirty="0"/>
          </a:p>
        </p:txBody>
      </p:sp>
      <p:sp>
        <p:nvSpPr>
          <p:cNvPr id="7" name="Shape 5"/>
          <p:cNvSpPr/>
          <p:nvPr/>
        </p:nvSpPr>
        <p:spPr>
          <a:xfrm>
            <a:off x="685800" y="3108960"/>
            <a:ext cx="10820095" cy="777240"/>
          </a:xfrm>
          <a:prstGeom prst="roundRect">
            <a:avLst>
              <a:gd name="adj" fmla="val 9412"/>
            </a:avLst>
          </a:prstGeom>
          <a:solidFill>
            <a:srgbClr val="1A2029"/>
          </a:solidFill>
          <a:ln w="9525">
            <a:solidFill>
              <a:srgbClr val="2C3440"/>
            </a:solidFill>
            <a:prstDash val="solid"/>
          </a:ln>
        </p:spPr>
      </p:sp>
      <p:sp>
        <p:nvSpPr>
          <p:cNvPr id="8" name="Text 6"/>
          <p:cNvSpPr txBox="1"/>
          <p:nvPr/>
        </p:nvSpPr>
        <p:spPr>
          <a:xfrm>
            <a:off x="1005840" y="3163824"/>
            <a:ext cx="3566160" cy="667512"/>
          </a:xfrm>
          <a:prstGeom prst="rect">
            <a:avLst/>
          </a:prstGeom>
          <a:noFill/>
          <a:ln/>
        </p:spPr>
        <p:txBody>
          <a:bodyPr wrap="square" lIns="0" tIns="0" rIns="0" bIns="0" rtlCol="0" anchor="ctr"/>
          <a:lstStyle/>
          <a:p>
            <a:pPr indent="0" marL="0">
              <a:lnSpc>
                <a:spcPct val="120000"/>
              </a:lnSpc>
              <a:buNone/>
            </a:pPr>
            <a:r>
              <a:rPr lang="en-US" sz="1450" b="1" dirty="0">
                <a:solidFill>
                  <a:srgbClr val="E7EBF0"/>
                </a:solidFill>
                <a:latin typeface="Calibri" pitchFamily="34" charset="0"/>
                <a:ea typeface="Calibri" pitchFamily="34" charset="-122"/>
                <a:cs typeface="Calibri" pitchFamily="34" charset="-120"/>
              </a:rPr>
              <a:t>The two extra families are stand-ins</a:t>
            </a:r>
            <a:endParaRPr lang="en-US" sz="1450" dirty="0"/>
          </a:p>
        </p:txBody>
      </p:sp>
      <p:sp>
        <p:nvSpPr>
          <p:cNvPr id="9" name="Text 7"/>
          <p:cNvSpPr txBox="1"/>
          <p:nvPr/>
        </p:nvSpPr>
        <p:spPr>
          <a:xfrm>
            <a:off x="4754880" y="3163824"/>
            <a:ext cx="6430975" cy="667512"/>
          </a:xfrm>
          <a:prstGeom prst="rect">
            <a:avLst/>
          </a:prstGeom>
          <a:noFill/>
          <a:ln/>
        </p:spPr>
        <p:txBody>
          <a:bodyPr wrap="square" lIns="0" tIns="0" rIns="0" bIns="0" rtlCol="0" anchor="ctr"/>
          <a:lstStyle/>
          <a:p>
            <a:pPr indent="0" marL="0">
              <a:lnSpc>
                <a:spcPct val="125000"/>
              </a:lnSpc>
              <a:buNone/>
            </a:pPr>
            <a:r>
              <a:rPr lang="en-US" sz="1250" dirty="0">
                <a:solidFill>
                  <a:srgbClr val="93A0B0"/>
                </a:solidFill>
                <a:latin typeface="Calibri" pitchFamily="34" charset="0"/>
                <a:ea typeface="Calibri" pitchFamily="34" charset="-122"/>
                <a:cs typeface="Calibri" pitchFamily="34" charset="-120"/>
              </a:rPr>
              <a:t>Lightweight, trained here, at small scale. They answer whether the gap reproduces across regimes, not whether it holds for video world models in general.</a:t>
            </a:r>
            <a:endParaRPr lang="en-US" sz="1250" dirty="0"/>
          </a:p>
        </p:txBody>
      </p:sp>
      <p:sp>
        <p:nvSpPr>
          <p:cNvPr id="10" name="Shape 8"/>
          <p:cNvSpPr/>
          <p:nvPr/>
        </p:nvSpPr>
        <p:spPr>
          <a:xfrm>
            <a:off x="685800" y="4023360"/>
            <a:ext cx="10820095" cy="777240"/>
          </a:xfrm>
          <a:prstGeom prst="roundRect">
            <a:avLst>
              <a:gd name="adj" fmla="val 9412"/>
            </a:avLst>
          </a:prstGeom>
          <a:solidFill>
            <a:srgbClr val="1A2029"/>
          </a:solidFill>
          <a:ln w="9525">
            <a:solidFill>
              <a:srgbClr val="2C3440"/>
            </a:solidFill>
            <a:prstDash val="solid"/>
          </a:ln>
        </p:spPr>
      </p:sp>
      <p:sp>
        <p:nvSpPr>
          <p:cNvPr id="11" name="Text 9"/>
          <p:cNvSpPr txBox="1"/>
          <p:nvPr/>
        </p:nvSpPr>
        <p:spPr>
          <a:xfrm>
            <a:off x="1005840" y="4078224"/>
            <a:ext cx="3566160" cy="667512"/>
          </a:xfrm>
          <a:prstGeom prst="rect">
            <a:avLst/>
          </a:prstGeom>
          <a:noFill/>
          <a:ln/>
        </p:spPr>
        <p:txBody>
          <a:bodyPr wrap="square" lIns="0" tIns="0" rIns="0" bIns="0" rtlCol="0" anchor="ctr"/>
          <a:lstStyle/>
          <a:p>
            <a:pPr indent="0" marL="0">
              <a:lnSpc>
                <a:spcPct val="120000"/>
              </a:lnSpc>
              <a:buNone/>
            </a:pPr>
            <a:r>
              <a:rPr lang="en-US" sz="1450" b="1" dirty="0">
                <a:solidFill>
                  <a:srgbClr val="E7EBF0"/>
                </a:solidFill>
                <a:latin typeface="Calibri" pitchFamily="34" charset="0"/>
                <a:ea typeface="Calibri" pitchFamily="34" charset="-122"/>
                <a:cs typeface="Calibri" pitchFamily="34" charset="-120"/>
              </a:rPr>
              <a:t>Sample sizes are small</a:t>
            </a:r>
            <a:endParaRPr lang="en-US" sz="1450" dirty="0"/>
          </a:p>
        </p:txBody>
      </p:sp>
      <p:sp>
        <p:nvSpPr>
          <p:cNvPr id="12" name="Text 10"/>
          <p:cNvSpPr txBox="1"/>
          <p:nvPr/>
        </p:nvSpPr>
        <p:spPr>
          <a:xfrm>
            <a:off x="4754880" y="4078224"/>
            <a:ext cx="6430975" cy="667512"/>
          </a:xfrm>
          <a:prstGeom prst="rect">
            <a:avLst/>
          </a:prstGeom>
          <a:noFill/>
          <a:ln/>
        </p:spPr>
        <p:txBody>
          <a:bodyPr wrap="square" lIns="0" tIns="0" rIns="0" bIns="0" rtlCol="0" anchor="ctr"/>
          <a:lstStyle/>
          <a:p>
            <a:pPr indent="0" marL="0">
              <a:lnSpc>
                <a:spcPct val="125000"/>
              </a:lnSpc>
              <a:buNone/>
            </a:pPr>
            <a:r>
              <a:rPr lang="en-US" sz="1250" dirty="0">
                <a:solidFill>
                  <a:srgbClr val="93A0B0"/>
                </a:solidFill>
                <a:latin typeface="Calibri" pitchFamily="34" charset="0"/>
                <a:ea typeface="Calibri" pitchFamily="34" charset="-122"/>
                <a:cs typeface="Calibri" pitchFamily="34" charset="-120"/>
              </a:rPr>
              <a:t>Ten to 26 clips depending on the experiment. At n = 24 a correlation test only has 80% power for r around 0.55, which is exactly why the conformal check exists.</a:t>
            </a:r>
            <a:endParaRPr lang="en-US" sz="1250" dirty="0"/>
          </a:p>
        </p:txBody>
      </p:sp>
      <p:sp>
        <p:nvSpPr>
          <p:cNvPr id="13" name="Text 11"/>
          <p:cNvSpPr txBox="1"/>
          <p:nvPr/>
        </p:nvSpPr>
        <p:spPr>
          <a:xfrm>
            <a:off x="685800" y="5120640"/>
            <a:ext cx="10424160" cy="640080"/>
          </a:xfrm>
          <a:prstGeom prst="rect">
            <a:avLst/>
          </a:prstGeom>
          <a:noFill/>
          <a:ln/>
        </p:spPr>
        <p:txBody>
          <a:bodyPr wrap="square" lIns="0" tIns="0" rIns="0" bIns="0" rtlCol="0" anchor="ctr"/>
          <a:lstStyle/>
          <a:p>
            <a:pPr indent="0" marL="0">
              <a:lnSpc>
                <a:spcPct val="135000"/>
              </a:lnSpc>
              <a:buNone/>
            </a:pPr>
            <a:r>
              <a:rPr lang="en-US" sz="1400" dirty="0">
                <a:solidFill>
                  <a:srgbClr val="93A0B0"/>
                </a:solidFill>
                <a:latin typeface="Calibri" pitchFamily="34" charset="0"/>
                <a:ea typeface="Calibri" pitchFamily="34" charset="-122"/>
                <a:cs typeface="Calibri" pitchFamily="34" charset="-120"/>
              </a:rPr>
              <a:t>Each of these is a scope boundary we chose and documented, not an oversight someone found later. The confidence intervals behind every headline number are published alongside the code.</a:t>
            </a:r>
            <a:endParaRPr lang="en-US" sz="1400" dirty="0"/>
          </a:p>
        </p:txBody>
      </p:sp>
      <p:sp>
        <p:nvSpPr>
          <p:cNvPr id="14" name="Text 12"/>
          <p:cNvSpPr txBox="1"/>
          <p:nvPr/>
        </p:nvSpPr>
        <p:spPr>
          <a:xfrm>
            <a:off x="685800" y="6199632"/>
            <a:ext cx="5486400" cy="274320"/>
          </a:xfrm>
          <a:prstGeom prst="rect">
            <a:avLst/>
          </a:prstGeom>
          <a:noFill/>
          <a:ln/>
        </p:spPr>
        <p:txBody>
          <a:bodyPr wrap="square" lIns="0" tIns="0" rIns="0" bIns="0" rtlCol="0" anchor="ctr"/>
          <a:lstStyle/>
          <a:p>
            <a:pPr algn="l" indent="0" marL="0">
              <a:buNone/>
            </a:pPr>
            <a:r>
              <a:rPr lang="en-US" sz="1000" dirty="0">
                <a:solidFill>
                  <a:srgbClr val="8794A4"/>
                </a:solidFill>
                <a:latin typeface="Courier New" pitchFamily="34" charset="0"/>
                <a:ea typeface="Courier New" pitchFamily="34" charset="-122"/>
                <a:cs typeface="Courier New" pitchFamily="34" charset="-120"/>
              </a:rPr>
              <a:t>Limitations</a:t>
            </a:r>
            <a:endParaRPr lang="en-US" sz="1000" dirty="0"/>
          </a:p>
        </p:txBody>
      </p:sp>
      <p:sp>
        <p:nvSpPr>
          <p:cNvPr id="15" name="Text 13"/>
          <p:cNvSpPr txBox="1"/>
          <p:nvPr/>
        </p:nvSpPr>
        <p:spPr>
          <a:xfrm>
            <a:off x="9677095" y="6199632"/>
            <a:ext cx="1828800" cy="274320"/>
          </a:xfrm>
          <a:prstGeom prst="rect">
            <a:avLst/>
          </a:prstGeom>
          <a:noFill/>
          <a:ln/>
        </p:spPr>
        <p:txBody>
          <a:bodyPr wrap="square" lIns="0" tIns="0" rIns="0" bIns="0" rtlCol="0" anchor="ctr"/>
          <a:lstStyle/>
          <a:p>
            <a:pPr algn="r" indent="0" marL="0">
              <a:buNone/>
            </a:pPr>
            <a:r>
              <a:rPr lang="en-US" sz="1000" dirty="0">
                <a:solidFill>
                  <a:srgbClr val="8794A4"/>
                </a:solidFill>
                <a:latin typeface="Courier New" pitchFamily="34" charset="0"/>
                <a:ea typeface="Courier New" pitchFamily="34" charset="-122"/>
                <a:cs typeface="Courier New"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F1F4"/>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74320"/>
          </a:xfrm>
          <a:prstGeom prst="rect">
            <a:avLst/>
          </a:prstGeom>
          <a:noFill/>
          <a:ln/>
        </p:spPr>
        <p:txBody>
          <a:bodyPr wrap="square" lIns="0" tIns="0" rIns="0" bIns="0" rtlCol="0" anchor="ctr"/>
          <a:lstStyle/>
          <a:p>
            <a:pPr algn="l" indent="0" marL="0">
              <a:buNone/>
            </a:pPr>
            <a:r>
              <a:rPr lang="en-US" sz="1100" spc="200" kern="0" dirty="0">
                <a:solidFill>
                  <a:srgbClr val="5B6472"/>
                </a:solidFill>
                <a:latin typeface="Courier New" pitchFamily="34" charset="0"/>
                <a:ea typeface="Courier New" pitchFamily="34" charset="-122"/>
                <a:cs typeface="Courier New" pitchFamily="34" charset="-120"/>
              </a:rPr>
              <a:t>THE DELIVERABLE</a:t>
            </a:r>
            <a:endParaRPr lang="en-US" sz="1100" dirty="0"/>
          </a:p>
        </p:txBody>
      </p:sp>
      <p:sp>
        <p:nvSpPr>
          <p:cNvPr id="3" name="Text 1"/>
          <p:cNvSpPr txBox="1"/>
          <p:nvPr/>
        </p:nvSpPr>
        <p:spPr>
          <a:xfrm>
            <a:off x="685800" y="868680"/>
            <a:ext cx="10820095" cy="1051560"/>
          </a:xfrm>
          <a:prstGeom prst="rect">
            <a:avLst/>
          </a:prstGeom>
          <a:noFill/>
          <a:ln/>
        </p:spPr>
        <p:txBody>
          <a:bodyPr wrap="square" lIns="0" tIns="0" rIns="0" bIns="0" rtlCol="0" anchor="t"/>
          <a:lstStyle/>
          <a:p>
            <a:pPr algn="l" indent="0" marL="0">
              <a:lnSpc>
                <a:spcPct val="105000"/>
              </a:lnSpc>
              <a:buNone/>
            </a:pPr>
            <a:r>
              <a:rPr lang="en-US" sz="3400" i="1" dirty="0">
                <a:solidFill>
                  <a:srgbClr val="161B22"/>
                </a:solidFill>
                <a:latin typeface="Cambria" pitchFamily="34" charset="0"/>
                <a:ea typeface="Cambria" pitchFamily="34" charset="-122"/>
                <a:cs typeface="Cambria" pitchFamily="34" charset="-120"/>
              </a:rPr>
              <a:t>A four-gate protocol anyone can adopt</a:t>
            </a:r>
            <a:endParaRPr lang="en-US" sz="3400" dirty="0"/>
          </a:p>
        </p:txBody>
      </p:sp>
      <p:sp>
        <p:nvSpPr>
          <p:cNvPr id="4" name="Shape 2"/>
          <p:cNvSpPr/>
          <p:nvPr/>
        </p:nvSpPr>
        <p:spPr>
          <a:xfrm>
            <a:off x="685800" y="2148840"/>
            <a:ext cx="2554148" cy="2788920"/>
          </a:xfrm>
          <a:prstGeom prst="roundRect">
            <a:avLst>
              <a:gd name="adj" fmla="val 2864"/>
            </a:avLst>
          </a:prstGeom>
          <a:solidFill>
            <a:srgbClr val="F7F9FB"/>
          </a:solidFill>
          <a:ln w="9525">
            <a:solidFill>
              <a:srgbClr val="CCD4DC"/>
            </a:solidFill>
            <a:prstDash val="solid"/>
          </a:ln>
        </p:spPr>
      </p:sp>
      <p:sp>
        <p:nvSpPr>
          <p:cNvPr id="5" name="Text 3"/>
          <p:cNvSpPr txBox="1"/>
          <p:nvPr/>
        </p:nvSpPr>
        <p:spPr>
          <a:xfrm>
            <a:off x="905256" y="2331720"/>
            <a:ext cx="2115236" cy="228600"/>
          </a:xfrm>
          <a:prstGeom prst="rect">
            <a:avLst/>
          </a:prstGeom>
          <a:noFill/>
          <a:ln/>
        </p:spPr>
        <p:txBody>
          <a:bodyPr wrap="square" lIns="0" tIns="0" rIns="0" bIns="0" rtlCol="0" anchor="ctr"/>
          <a:lstStyle/>
          <a:p>
            <a:pPr indent="0" marL="0">
              <a:buNone/>
            </a:pPr>
            <a:r>
              <a:rPr lang="en-US" sz="1100" dirty="0">
                <a:solidFill>
                  <a:srgbClr val="4A94EE"/>
                </a:solidFill>
                <a:latin typeface="Courier New" pitchFamily="34" charset="0"/>
                <a:ea typeface="Courier New" pitchFamily="34" charset="-122"/>
                <a:cs typeface="Courier New" pitchFamily="34" charset="-120"/>
              </a:rPr>
              <a:t>01</a:t>
            </a:r>
            <a:endParaRPr lang="en-US" sz="1100" dirty="0"/>
          </a:p>
        </p:txBody>
      </p:sp>
      <p:sp>
        <p:nvSpPr>
          <p:cNvPr id="6" name="Text 4"/>
          <p:cNvSpPr txBox="1"/>
          <p:nvPr/>
        </p:nvSpPr>
        <p:spPr>
          <a:xfrm>
            <a:off x="905256" y="2606040"/>
            <a:ext cx="2115236" cy="566928"/>
          </a:xfrm>
          <a:prstGeom prst="rect">
            <a:avLst/>
          </a:prstGeom>
          <a:noFill/>
          <a:ln/>
        </p:spPr>
        <p:txBody>
          <a:bodyPr wrap="square" lIns="0" tIns="0" rIns="0" bIns="0" rtlCol="0" anchor="ctr"/>
          <a:lstStyle/>
          <a:p>
            <a:pPr indent="0" marL="0">
              <a:lnSpc>
                <a:spcPct val="115000"/>
              </a:lnSpc>
              <a:buNone/>
            </a:pPr>
            <a:r>
              <a:rPr lang="en-US" sz="1500" b="1" dirty="0">
                <a:solidFill>
                  <a:srgbClr val="161B22"/>
                </a:solidFill>
                <a:latin typeface="Calibri" pitchFamily="34" charset="0"/>
                <a:ea typeface="Calibri" pitchFamily="34" charset="-122"/>
                <a:cs typeface="Calibri" pitchFamily="34" charset="-120"/>
              </a:rPr>
              <a:t>Gate the instrument</a:t>
            </a:r>
            <a:endParaRPr lang="en-US" sz="1500" dirty="0"/>
          </a:p>
        </p:txBody>
      </p:sp>
      <p:sp>
        <p:nvSpPr>
          <p:cNvPr id="7" name="Text 5"/>
          <p:cNvSpPr txBox="1"/>
          <p:nvPr/>
        </p:nvSpPr>
        <p:spPr>
          <a:xfrm>
            <a:off x="905256" y="3218688"/>
            <a:ext cx="2115236" cy="1051560"/>
          </a:xfrm>
          <a:prstGeom prst="rect">
            <a:avLst/>
          </a:prstGeom>
          <a:noFill/>
          <a:ln/>
        </p:spPr>
        <p:txBody>
          <a:bodyPr wrap="square" lIns="0" tIns="0" rIns="0" bIns="0" rtlCol="0" anchor="ctr"/>
          <a:lstStyle/>
          <a:p>
            <a:pPr indent="0" marL="0">
              <a:lnSpc>
                <a:spcPct val="130000"/>
              </a:lnSpc>
              <a:buNone/>
            </a:pPr>
            <a:r>
              <a:rPr lang="en-US" sz="1150" dirty="0">
                <a:solidFill>
                  <a:srgbClr val="5B6472"/>
                </a:solidFill>
                <a:latin typeface="Calibri" pitchFamily="34" charset="0"/>
                <a:ea typeface="Calibri" pitchFamily="34" charset="-122"/>
                <a:cs typeface="Calibri" pitchFamily="34" charset="-120"/>
              </a:rPr>
              <a:t>Train the decoder on real frames only, never on rollouts, and pass the leakage and snapping checks first.</a:t>
            </a:r>
            <a:endParaRPr lang="en-US" sz="1150" dirty="0"/>
          </a:p>
        </p:txBody>
      </p:sp>
      <p:sp>
        <p:nvSpPr>
          <p:cNvPr id="8" name="Text 6"/>
          <p:cNvSpPr txBox="1"/>
          <p:nvPr/>
        </p:nvSpPr>
        <p:spPr>
          <a:xfrm>
            <a:off x="905256" y="4315968"/>
            <a:ext cx="2115236" cy="548640"/>
          </a:xfrm>
          <a:prstGeom prst="rect">
            <a:avLst/>
          </a:prstGeom>
          <a:noFill/>
          <a:ln/>
        </p:spPr>
        <p:txBody>
          <a:bodyPr wrap="square" lIns="0" tIns="0" rIns="0" bIns="0" rtlCol="0" anchor="ctr"/>
          <a:lstStyle/>
          <a:p>
            <a:pPr indent="0" marL="0">
              <a:lnSpc>
                <a:spcPct val="125000"/>
              </a:lnSpc>
              <a:buNone/>
            </a:pPr>
            <a:r>
              <a:rPr lang="en-US" sz="1050" dirty="0">
                <a:solidFill>
                  <a:srgbClr val="E88B83"/>
                </a:solidFill>
                <a:latin typeface="Calibri" pitchFamily="34" charset="0"/>
                <a:ea typeface="Calibri" pitchFamily="34" charset="-122"/>
                <a:cs typeface="Calibri" pitchFamily="34" charset="-120"/>
              </a:rPr>
              <a:t>Fails: every pixel number below measures your decoder</a:t>
            </a:r>
            <a:endParaRPr lang="en-US" sz="1050" dirty="0"/>
          </a:p>
        </p:txBody>
      </p:sp>
      <p:sp>
        <p:nvSpPr>
          <p:cNvPr id="9" name="Shape 7"/>
          <p:cNvSpPr/>
          <p:nvPr/>
        </p:nvSpPr>
        <p:spPr>
          <a:xfrm>
            <a:off x="3441116" y="2148840"/>
            <a:ext cx="2554148" cy="2788920"/>
          </a:xfrm>
          <a:prstGeom prst="roundRect">
            <a:avLst>
              <a:gd name="adj" fmla="val 2864"/>
            </a:avLst>
          </a:prstGeom>
          <a:solidFill>
            <a:srgbClr val="F7F9FB"/>
          </a:solidFill>
          <a:ln w="9525">
            <a:solidFill>
              <a:srgbClr val="CCD4DC"/>
            </a:solidFill>
            <a:prstDash val="solid"/>
          </a:ln>
        </p:spPr>
      </p:sp>
      <p:sp>
        <p:nvSpPr>
          <p:cNvPr id="10" name="Text 8"/>
          <p:cNvSpPr txBox="1"/>
          <p:nvPr/>
        </p:nvSpPr>
        <p:spPr>
          <a:xfrm>
            <a:off x="3660572" y="2331720"/>
            <a:ext cx="2115236" cy="228600"/>
          </a:xfrm>
          <a:prstGeom prst="rect">
            <a:avLst/>
          </a:prstGeom>
          <a:noFill/>
          <a:ln/>
        </p:spPr>
        <p:txBody>
          <a:bodyPr wrap="square" lIns="0" tIns="0" rIns="0" bIns="0" rtlCol="0" anchor="ctr"/>
          <a:lstStyle/>
          <a:p>
            <a:pPr indent="0" marL="0">
              <a:buNone/>
            </a:pPr>
            <a:r>
              <a:rPr lang="en-US" sz="1100" dirty="0">
                <a:solidFill>
                  <a:srgbClr val="4A94EE"/>
                </a:solidFill>
                <a:latin typeface="Courier New" pitchFamily="34" charset="0"/>
                <a:ea typeface="Courier New" pitchFamily="34" charset="-122"/>
                <a:cs typeface="Courier New" pitchFamily="34" charset="-120"/>
              </a:rPr>
              <a:t>02</a:t>
            </a:r>
            <a:endParaRPr lang="en-US" sz="1100" dirty="0"/>
          </a:p>
        </p:txBody>
      </p:sp>
      <p:sp>
        <p:nvSpPr>
          <p:cNvPr id="11" name="Text 9"/>
          <p:cNvSpPr txBox="1"/>
          <p:nvPr/>
        </p:nvSpPr>
        <p:spPr>
          <a:xfrm>
            <a:off x="3660572" y="2606040"/>
            <a:ext cx="2115236" cy="566928"/>
          </a:xfrm>
          <a:prstGeom prst="rect">
            <a:avLst/>
          </a:prstGeom>
          <a:noFill/>
          <a:ln/>
        </p:spPr>
        <p:txBody>
          <a:bodyPr wrap="square" lIns="0" tIns="0" rIns="0" bIns="0" rtlCol="0" anchor="ctr"/>
          <a:lstStyle/>
          <a:p>
            <a:pPr indent="0" marL="0">
              <a:lnSpc>
                <a:spcPct val="115000"/>
              </a:lnSpc>
              <a:buNone/>
            </a:pPr>
            <a:r>
              <a:rPr lang="en-US" sz="1500" b="1" dirty="0">
                <a:solidFill>
                  <a:srgbClr val="161B22"/>
                </a:solidFill>
                <a:latin typeface="Calibri" pitchFamily="34" charset="0"/>
                <a:ea typeface="Calibri" pitchFamily="34" charset="-122"/>
                <a:cs typeface="Calibri" pitchFamily="34" charset="-120"/>
              </a:rPr>
              <a:t>Do not substitute a proxy</a:t>
            </a:r>
            <a:endParaRPr lang="en-US" sz="1500" dirty="0"/>
          </a:p>
        </p:txBody>
      </p:sp>
      <p:sp>
        <p:nvSpPr>
          <p:cNvPr id="12" name="Text 10"/>
          <p:cNvSpPr txBox="1"/>
          <p:nvPr/>
        </p:nvSpPr>
        <p:spPr>
          <a:xfrm>
            <a:off x="3660572" y="3218688"/>
            <a:ext cx="2115236" cy="1051560"/>
          </a:xfrm>
          <a:prstGeom prst="rect">
            <a:avLst/>
          </a:prstGeom>
          <a:noFill/>
          <a:ln/>
        </p:spPr>
        <p:txBody>
          <a:bodyPr wrap="square" lIns="0" tIns="0" rIns="0" bIns="0" rtlCol="0" anchor="ctr"/>
          <a:lstStyle/>
          <a:p>
            <a:pPr indent="0" marL="0">
              <a:lnSpc>
                <a:spcPct val="130000"/>
              </a:lnSpc>
              <a:buNone/>
            </a:pPr>
            <a:r>
              <a:rPr lang="en-US" sz="1150" dirty="0">
                <a:solidFill>
                  <a:srgbClr val="5B6472"/>
                </a:solidFill>
                <a:latin typeface="Calibri" pitchFamily="34" charset="0"/>
                <a:ea typeface="Calibri" pitchFamily="34" charset="-122"/>
                <a:cs typeface="Calibri" pitchFamily="34" charset="-120"/>
              </a:rPr>
              <a:t>Run the same four-test battery on your own model before trusting any latent-only confidence signal.</a:t>
            </a:r>
            <a:endParaRPr lang="en-US" sz="1150" dirty="0"/>
          </a:p>
        </p:txBody>
      </p:sp>
      <p:sp>
        <p:nvSpPr>
          <p:cNvPr id="13" name="Text 11"/>
          <p:cNvSpPr txBox="1"/>
          <p:nvPr/>
        </p:nvSpPr>
        <p:spPr>
          <a:xfrm>
            <a:off x="3660572" y="4315968"/>
            <a:ext cx="2115236" cy="548640"/>
          </a:xfrm>
          <a:prstGeom prst="rect">
            <a:avLst/>
          </a:prstGeom>
          <a:noFill/>
          <a:ln/>
        </p:spPr>
        <p:txBody>
          <a:bodyPr wrap="square" lIns="0" tIns="0" rIns="0" bIns="0" rtlCol="0" anchor="ctr"/>
          <a:lstStyle/>
          <a:p>
            <a:pPr indent="0" marL="0">
              <a:lnSpc>
                <a:spcPct val="125000"/>
              </a:lnSpc>
              <a:buNone/>
            </a:pPr>
            <a:r>
              <a:rPr lang="en-US" sz="1050" dirty="0">
                <a:solidFill>
                  <a:srgbClr val="E88B83"/>
                </a:solidFill>
                <a:latin typeface="Calibri" pitchFamily="34" charset="0"/>
                <a:ea typeface="Calibri" pitchFamily="34" charset="-122"/>
                <a:cs typeface="Calibri" pitchFamily="34" charset="-120"/>
              </a:rPr>
              <a:t>Fails: the proxy is unverified, so do not skip gate 3</a:t>
            </a:r>
            <a:endParaRPr lang="en-US" sz="1050" dirty="0"/>
          </a:p>
        </p:txBody>
      </p:sp>
      <p:sp>
        <p:nvSpPr>
          <p:cNvPr id="14" name="Shape 12"/>
          <p:cNvSpPr/>
          <p:nvPr/>
        </p:nvSpPr>
        <p:spPr>
          <a:xfrm>
            <a:off x="6196432" y="2148840"/>
            <a:ext cx="2554148" cy="2788920"/>
          </a:xfrm>
          <a:prstGeom prst="roundRect">
            <a:avLst>
              <a:gd name="adj" fmla="val 2864"/>
            </a:avLst>
          </a:prstGeom>
          <a:solidFill>
            <a:srgbClr val="F7F9FB"/>
          </a:solidFill>
          <a:ln w="9525">
            <a:solidFill>
              <a:srgbClr val="CCD4DC"/>
            </a:solidFill>
            <a:prstDash val="solid"/>
          </a:ln>
        </p:spPr>
      </p:sp>
      <p:sp>
        <p:nvSpPr>
          <p:cNvPr id="15" name="Text 13"/>
          <p:cNvSpPr txBox="1"/>
          <p:nvPr/>
        </p:nvSpPr>
        <p:spPr>
          <a:xfrm>
            <a:off x="6415888" y="2331720"/>
            <a:ext cx="2115236" cy="228600"/>
          </a:xfrm>
          <a:prstGeom prst="rect">
            <a:avLst/>
          </a:prstGeom>
          <a:noFill/>
          <a:ln/>
        </p:spPr>
        <p:txBody>
          <a:bodyPr wrap="square" lIns="0" tIns="0" rIns="0" bIns="0" rtlCol="0" anchor="ctr"/>
          <a:lstStyle/>
          <a:p>
            <a:pPr indent="0" marL="0">
              <a:buNone/>
            </a:pPr>
            <a:r>
              <a:rPr lang="en-US" sz="1100" dirty="0">
                <a:solidFill>
                  <a:srgbClr val="4A94EE"/>
                </a:solidFill>
                <a:latin typeface="Courier New" pitchFamily="34" charset="0"/>
                <a:ea typeface="Courier New" pitchFamily="34" charset="-122"/>
                <a:cs typeface="Courier New" pitchFamily="34" charset="-120"/>
              </a:rPr>
              <a:t>03</a:t>
            </a:r>
            <a:endParaRPr lang="en-US" sz="1100" dirty="0"/>
          </a:p>
        </p:txBody>
      </p:sp>
      <p:sp>
        <p:nvSpPr>
          <p:cNvPr id="16" name="Text 14"/>
          <p:cNvSpPr txBox="1"/>
          <p:nvPr/>
        </p:nvSpPr>
        <p:spPr>
          <a:xfrm>
            <a:off x="6415888" y="2606040"/>
            <a:ext cx="2115236" cy="566928"/>
          </a:xfrm>
          <a:prstGeom prst="rect">
            <a:avLst/>
          </a:prstGeom>
          <a:noFill/>
          <a:ln/>
        </p:spPr>
        <p:txBody>
          <a:bodyPr wrap="square" lIns="0" tIns="0" rIns="0" bIns="0" rtlCol="0" anchor="ctr"/>
          <a:lstStyle/>
          <a:p>
            <a:pPr indent="0" marL="0">
              <a:lnSpc>
                <a:spcPct val="115000"/>
              </a:lnSpc>
              <a:buNone/>
            </a:pPr>
            <a:r>
              <a:rPr lang="en-US" sz="1500" b="1" dirty="0">
                <a:solidFill>
                  <a:srgbClr val="161B22"/>
                </a:solidFill>
                <a:latin typeface="Calibri" pitchFamily="34" charset="0"/>
                <a:ea typeface="Calibri" pitchFamily="34" charset="-122"/>
                <a:cs typeface="Calibri" pitchFamily="34" charset="-120"/>
              </a:rPr>
              <a:t>Decode and compare</a:t>
            </a:r>
            <a:endParaRPr lang="en-US" sz="1500" dirty="0"/>
          </a:p>
        </p:txBody>
      </p:sp>
      <p:sp>
        <p:nvSpPr>
          <p:cNvPr id="17" name="Text 15"/>
          <p:cNvSpPr txBox="1"/>
          <p:nvPr/>
        </p:nvSpPr>
        <p:spPr>
          <a:xfrm>
            <a:off x="6415888" y="3218688"/>
            <a:ext cx="2115236" cy="1051560"/>
          </a:xfrm>
          <a:prstGeom prst="rect">
            <a:avLst/>
          </a:prstGeom>
          <a:noFill/>
          <a:ln/>
        </p:spPr>
        <p:txBody>
          <a:bodyPr wrap="square" lIns="0" tIns="0" rIns="0" bIns="0" rtlCol="0" anchor="ctr"/>
          <a:lstStyle/>
          <a:p>
            <a:pPr indent="0" marL="0">
              <a:lnSpc>
                <a:spcPct val="130000"/>
              </a:lnSpc>
              <a:buNone/>
            </a:pPr>
            <a:r>
              <a:rPr lang="en-US" sz="1150" dirty="0">
                <a:solidFill>
                  <a:srgbClr val="5B6472"/>
                </a:solidFill>
                <a:latin typeface="Calibri" pitchFamily="34" charset="0"/>
                <a:ea typeface="Calibri" pitchFamily="34" charset="-122"/>
                <a:cs typeface="Calibri" pitchFamily="34" charset="-120"/>
              </a:rPr>
              <a:t>Decode the rolled-forward latent against the real frame. Report both coordinates, their ratio and the residual.</a:t>
            </a:r>
            <a:endParaRPr lang="en-US" sz="1150" dirty="0"/>
          </a:p>
        </p:txBody>
      </p:sp>
      <p:sp>
        <p:nvSpPr>
          <p:cNvPr id="18" name="Text 16"/>
          <p:cNvSpPr txBox="1"/>
          <p:nvPr/>
        </p:nvSpPr>
        <p:spPr>
          <a:xfrm>
            <a:off x="6415888" y="4315968"/>
            <a:ext cx="2115236" cy="548640"/>
          </a:xfrm>
          <a:prstGeom prst="rect">
            <a:avLst/>
          </a:prstGeom>
          <a:noFill/>
          <a:ln/>
        </p:spPr>
        <p:txBody>
          <a:bodyPr wrap="square" lIns="0" tIns="0" rIns="0" bIns="0" rtlCol="0" anchor="ctr"/>
          <a:lstStyle/>
          <a:p>
            <a:pPr indent="0" marL="0">
              <a:lnSpc>
                <a:spcPct val="125000"/>
              </a:lnSpc>
              <a:buNone/>
            </a:pPr>
            <a:r>
              <a:rPr lang="en-US" sz="1050" dirty="0">
                <a:solidFill>
                  <a:srgbClr val="E88B83"/>
                </a:solidFill>
                <a:latin typeface="Calibri" pitchFamily="34" charset="0"/>
                <a:ea typeface="Calibri" pitchFamily="34" charset="-122"/>
                <a:cs typeface="Calibri" pitchFamily="34" charset="-120"/>
              </a:rPr>
              <a:t>The only check that reliably surfaces the gap</a:t>
            </a:r>
            <a:endParaRPr lang="en-US" sz="1050" dirty="0"/>
          </a:p>
        </p:txBody>
      </p:sp>
      <p:sp>
        <p:nvSpPr>
          <p:cNvPr id="19" name="Shape 17"/>
          <p:cNvSpPr/>
          <p:nvPr/>
        </p:nvSpPr>
        <p:spPr>
          <a:xfrm>
            <a:off x="8951747" y="2148840"/>
            <a:ext cx="2554148" cy="2788920"/>
          </a:xfrm>
          <a:prstGeom prst="roundRect">
            <a:avLst>
              <a:gd name="adj" fmla="val 2864"/>
            </a:avLst>
          </a:prstGeom>
          <a:solidFill>
            <a:srgbClr val="F7F9FB"/>
          </a:solidFill>
          <a:ln w="9525">
            <a:solidFill>
              <a:srgbClr val="CCD4DC"/>
            </a:solidFill>
            <a:prstDash val="solid"/>
          </a:ln>
        </p:spPr>
      </p:sp>
      <p:sp>
        <p:nvSpPr>
          <p:cNvPr id="20" name="Text 18"/>
          <p:cNvSpPr txBox="1"/>
          <p:nvPr/>
        </p:nvSpPr>
        <p:spPr>
          <a:xfrm>
            <a:off x="9171203" y="2331720"/>
            <a:ext cx="2115236" cy="228600"/>
          </a:xfrm>
          <a:prstGeom prst="rect">
            <a:avLst/>
          </a:prstGeom>
          <a:noFill/>
          <a:ln/>
        </p:spPr>
        <p:txBody>
          <a:bodyPr wrap="square" lIns="0" tIns="0" rIns="0" bIns="0" rtlCol="0" anchor="ctr"/>
          <a:lstStyle/>
          <a:p>
            <a:pPr indent="0" marL="0">
              <a:buNone/>
            </a:pPr>
            <a:r>
              <a:rPr lang="en-US" sz="1100" dirty="0">
                <a:solidFill>
                  <a:srgbClr val="4A94EE"/>
                </a:solidFill>
                <a:latin typeface="Courier New" pitchFamily="34" charset="0"/>
                <a:ea typeface="Courier New" pitchFamily="34" charset="-122"/>
                <a:cs typeface="Courier New" pitchFamily="34" charset="-120"/>
              </a:rPr>
              <a:t>04</a:t>
            </a:r>
            <a:endParaRPr lang="en-US" sz="1100" dirty="0"/>
          </a:p>
        </p:txBody>
      </p:sp>
      <p:sp>
        <p:nvSpPr>
          <p:cNvPr id="21" name="Text 19"/>
          <p:cNvSpPr txBox="1"/>
          <p:nvPr/>
        </p:nvSpPr>
        <p:spPr>
          <a:xfrm>
            <a:off x="9171203" y="2606040"/>
            <a:ext cx="2115236" cy="566928"/>
          </a:xfrm>
          <a:prstGeom prst="rect">
            <a:avLst/>
          </a:prstGeom>
          <a:noFill/>
          <a:ln/>
        </p:spPr>
        <p:txBody>
          <a:bodyPr wrap="square" lIns="0" tIns="0" rIns="0" bIns="0" rtlCol="0" anchor="ctr"/>
          <a:lstStyle/>
          <a:p>
            <a:pPr indent="0" marL="0">
              <a:lnSpc>
                <a:spcPct val="115000"/>
              </a:lnSpc>
              <a:buNone/>
            </a:pPr>
            <a:r>
              <a:rPr lang="en-US" sz="1500" b="1" dirty="0">
                <a:solidFill>
                  <a:srgbClr val="161B22"/>
                </a:solidFill>
                <a:latin typeface="Calibri" pitchFamily="34" charset="0"/>
                <a:ea typeface="Calibri" pitchFamily="34" charset="-122"/>
                <a:cs typeface="Calibri" pitchFamily="34" charset="-120"/>
              </a:rPr>
              <a:t>Check compounding</a:t>
            </a:r>
            <a:endParaRPr lang="en-US" sz="1500" dirty="0"/>
          </a:p>
        </p:txBody>
      </p:sp>
      <p:sp>
        <p:nvSpPr>
          <p:cNvPr id="22" name="Text 20"/>
          <p:cNvSpPr txBox="1"/>
          <p:nvPr/>
        </p:nvSpPr>
        <p:spPr>
          <a:xfrm>
            <a:off x="9171203" y="3218688"/>
            <a:ext cx="2115236" cy="1051560"/>
          </a:xfrm>
          <a:prstGeom prst="rect">
            <a:avLst/>
          </a:prstGeom>
          <a:noFill/>
          <a:ln/>
        </p:spPr>
        <p:txBody>
          <a:bodyPr wrap="square" lIns="0" tIns="0" rIns="0" bIns="0" rtlCol="0" anchor="ctr"/>
          <a:lstStyle/>
          <a:p>
            <a:pPr indent="0" marL="0">
              <a:lnSpc>
                <a:spcPct val="130000"/>
              </a:lnSpc>
              <a:buNone/>
            </a:pPr>
            <a:r>
              <a:rPr lang="en-US" sz="1150" dirty="0">
                <a:solidFill>
                  <a:srgbClr val="5B6472"/>
                </a:solidFill>
                <a:latin typeface="Calibri" pitchFamily="34" charset="0"/>
                <a:ea typeface="Calibri" pitchFamily="34" charset="-122"/>
                <a:cs typeface="Calibri" pitchFamily="34" charset="-120"/>
              </a:rPr>
              <a:t>Decode, re-encode, re-inject, and track whether error grows or shrinks with further horizon.</a:t>
            </a:r>
            <a:endParaRPr lang="en-US" sz="1150" dirty="0"/>
          </a:p>
        </p:txBody>
      </p:sp>
      <p:sp>
        <p:nvSpPr>
          <p:cNvPr id="23" name="Text 21"/>
          <p:cNvSpPr txBox="1"/>
          <p:nvPr/>
        </p:nvSpPr>
        <p:spPr>
          <a:xfrm>
            <a:off x="9171203" y="4315968"/>
            <a:ext cx="2115236" cy="548640"/>
          </a:xfrm>
          <a:prstGeom prst="rect">
            <a:avLst/>
          </a:prstGeom>
          <a:noFill/>
          <a:ln/>
        </p:spPr>
        <p:txBody>
          <a:bodyPr wrap="square" lIns="0" tIns="0" rIns="0" bIns="0" rtlCol="0" anchor="ctr"/>
          <a:lstStyle/>
          <a:p>
            <a:pPr indent="0" marL="0">
              <a:lnSpc>
                <a:spcPct val="125000"/>
              </a:lnSpc>
              <a:buNone/>
            </a:pPr>
            <a:r>
              <a:rPr lang="en-US" sz="1050" dirty="0">
                <a:solidFill>
                  <a:srgbClr val="E88B83"/>
                </a:solidFill>
                <a:latin typeface="Calibri" pitchFamily="34" charset="0"/>
                <a:ea typeface="Calibri" pitchFamily="34" charset="-122"/>
                <a:cs typeface="Calibri" pitchFamily="34" charset="-120"/>
              </a:rPr>
              <a:t>Fails: one-shot noise and compounding drift stay confused</a:t>
            </a:r>
            <a:endParaRPr lang="en-US" sz="1050" dirty="0"/>
          </a:p>
        </p:txBody>
      </p:sp>
      <p:sp>
        <p:nvSpPr>
          <p:cNvPr id="24" name="Text 22"/>
          <p:cNvSpPr txBox="1"/>
          <p:nvPr/>
        </p:nvSpPr>
        <p:spPr>
          <a:xfrm>
            <a:off x="685800" y="5120640"/>
            <a:ext cx="10424160" cy="548640"/>
          </a:xfrm>
          <a:prstGeom prst="rect">
            <a:avLst/>
          </a:prstGeom>
          <a:noFill/>
          <a:ln/>
        </p:spPr>
        <p:txBody>
          <a:bodyPr wrap="square" lIns="0" tIns="0" rIns="0" bIns="0" rtlCol="0" anchor="ctr"/>
          <a:lstStyle/>
          <a:p>
            <a:pPr indent="0" marL="0">
              <a:lnSpc>
                <a:spcPct val="135000"/>
              </a:lnSpc>
              <a:buNone/>
            </a:pPr>
            <a:r>
              <a:rPr lang="en-US" sz="1400" dirty="0">
                <a:solidFill>
                  <a:srgbClr val="5B6472"/>
                </a:solidFill>
                <a:latin typeface="Calibri" pitchFamily="34" charset="0"/>
                <a:ea typeface="Calibri" pitchFamily="34" charset="-122"/>
                <a:cs typeface="Calibri" pitchFamily="34" charset="-120"/>
              </a:rPr>
              <a:t>Implemented against protocol interfaces, not against V-JEPA2. Any model exposing an encoder, a decoder and a state predictor runs all four gates unmodified.</a:t>
            </a:r>
            <a:endParaRPr lang="en-US" sz="1400" dirty="0"/>
          </a:p>
        </p:txBody>
      </p:sp>
      <p:sp>
        <p:nvSpPr>
          <p:cNvPr id="25" name="Text 23"/>
          <p:cNvSpPr txBox="1"/>
          <p:nvPr/>
        </p:nvSpPr>
        <p:spPr>
          <a:xfrm>
            <a:off x="685800" y="6199632"/>
            <a:ext cx="5486400" cy="274320"/>
          </a:xfrm>
          <a:prstGeom prst="rect">
            <a:avLst/>
          </a:prstGeom>
          <a:noFill/>
          <a:ln/>
        </p:spPr>
        <p:txBody>
          <a:bodyPr wrap="square" lIns="0" tIns="0" rIns="0" bIns="0" rtlCol="0" anchor="ctr"/>
          <a:lstStyle/>
          <a:p>
            <a:pPr algn="l" indent="0" marL="0">
              <a:buNone/>
            </a:pPr>
            <a:r>
              <a:rPr lang="en-US" sz="1000" dirty="0">
                <a:solidFill>
                  <a:srgbClr val="7C8794"/>
                </a:solidFill>
                <a:latin typeface="Courier New" pitchFamily="34" charset="0"/>
                <a:ea typeface="Courier New" pitchFamily="34" charset="-122"/>
                <a:cs typeface="Courier New" pitchFamily="34" charset="-120"/>
              </a:rPr>
              <a:t>The protocol</a:t>
            </a:r>
            <a:endParaRPr lang="en-US" sz="1000" dirty="0"/>
          </a:p>
        </p:txBody>
      </p:sp>
      <p:sp>
        <p:nvSpPr>
          <p:cNvPr id="26" name="Text 24"/>
          <p:cNvSpPr txBox="1"/>
          <p:nvPr/>
        </p:nvSpPr>
        <p:spPr>
          <a:xfrm>
            <a:off x="9677095" y="6199632"/>
            <a:ext cx="1828800" cy="274320"/>
          </a:xfrm>
          <a:prstGeom prst="rect">
            <a:avLst/>
          </a:prstGeom>
          <a:noFill/>
          <a:ln/>
        </p:spPr>
        <p:txBody>
          <a:bodyPr wrap="square" lIns="0" tIns="0" rIns="0" bIns="0" rtlCol="0" anchor="ctr"/>
          <a:lstStyle/>
          <a:p>
            <a:pPr algn="r" indent="0" marL="0">
              <a:buNone/>
            </a:pPr>
            <a:r>
              <a:rPr lang="en-US" sz="1000" dirty="0">
                <a:solidFill>
                  <a:srgbClr val="7C8794"/>
                </a:solidFill>
                <a:latin typeface="Courier New" pitchFamily="34" charset="0"/>
                <a:ea typeface="Courier New" pitchFamily="34" charset="-122"/>
                <a:cs typeface="Courier New"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685800" y="475488"/>
            <a:ext cx="10820095" cy="274320"/>
          </a:xfrm>
          <a:prstGeom prst="rect">
            <a:avLst/>
          </a:prstGeom>
          <a:noFill/>
          <a:ln/>
        </p:spPr>
        <p:txBody>
          <a:bodyPr wrap="square" lIns="0" tIns="0" rIns="0" bIns="0" rtlCol="0" anchor="ctr"/>
          <a:lstStyle/>
          <a:p>
            <a:pPr algn="l" indent="0" marL="0">
              <a:buNone/>
            </a:pPr>
            <a:r>
              <a:rPr lang="en-US" sz="1100" spc="200" kern="0" dirty="0">
                <a:solidFill>
                  <a:srgbClr val="93A0B0"/>
                </a:solidFill>
                <a:latin typeface="Courier New" pitchFamily="34" charset="0"/>
                <a:ea typeface="Courier New" pitchFamily="34" charset="-122"/>
                <a:cs typeface="Courier New" pitchFamily="34" charset="-120"/>
              </a:rPr>
              <a:t>WHY IT MATTERS</a:t>
            </a:r>
            <a:endParaRPr lang="en-US" sz="1100" dirty="0"/>
          </a:p>
        </p:txBody>
      </p:sp>
      <p:sp>
        <p:nvSpPr>
          <p:cNvPr id="3" name="Text 1"/>
          <p:cNvSpPr txBox="1"/>
          <p:nvPr/>
        </p:nvSpPr>
        <p:spPr>
          <a:xfrm>
            <a:off x="685800" y="868680"/>
            <a:ext cx="10820095" cy="1051560"/>
          </a:xfrm>
          <a:prstGeom prst="rect">
            <a:avLst/>
          </a:prstGeom>
          <a:noFill/>
          <a:ln/>
        </p:spPr>
        <p:txBody>
          <a:bodyPr wrap="square" lIns="0" tIns="0" rIns="0" bIns="0" rtlCol="0" anchor="t"/>
          <a:lstStyle/>
          <a:p>
            <a:pPr algn="l" indent="0" marL="0">
              <a:lnSpc>
                <a:spcPct val="105000"/>
              </a:lnSpc>
              <a:buNone/>
            </a:pPr>
            <a:r>
              <a:rPr lang="en-US" sz="3400" i="1" dirty="0">
                <a:solidFill>
                  <a:srgbClr val="E7EBF0"/>
                </a:solidFill>
                <a:latin typeface="Cambria" pitchFamily="34" charset="0"/>
                <a:ea typeface="Cambria" pitchFamily="34" charset="-122"/>
                <a:cs typeface="Cambria" pitchFamily="34" charset="-120"/>
              </a:rPr>
              <a:t>Who needs this, and when</a:t>
            </a:r>
            <a:endParaRPr lang="en-US" sz="3400" dirty="0"/>
          </a:p>
        </p:txBody>
      </p:sp>
      <p:sp>
        <p:nvSpPr>
          <p:cNvPr id="4" name="Shape 2"/>
          <p:cNvSpPr/>
          <p:nvPr/>
        </p:nvSpPr>
        <p:spPr>
          <a:xfrm>
            <a:off x="685800" y="2194560"/>
            <a:ext cx="3393338" cy="32004"/>
          </a:xfrm>
          <a:prstGeom prst="rect">
            <a:avLst/>
          </a:prstGeom>
          <a:solidFill>
            <a:srgbClr val="4A94EE"/>
          </a:solidFill>
          <a:ln w="12700">
            <a:solidFill>
              <a:srgbClr val="4A94EE"/>
            </a:solidFill>
            <a:prstDash val="solid"/>
          </a:ln>
        </p:spPr>
      </p:sp>
      <p:sp>
        <p:nvSpPr>
          <p:cNvPr id="5" name="Text 3"/>
          <p:cNvSpPr txBox="1"/>
          <p:nvPr/>
        </p:nvSpPr>
        <p:spPr>
          <a:xfrm>
            <a:off x="685800" y="2395728"/>
            <a:ext cx="3393338" cy="685800"/>
          </a:xfrm>
          <a:prstGeom prst="rect">
            <a:avLst/>
          </a:prstGeom>
          <a:noFill/>
          <a:ln/>
        </p:spPr>
        <p:txBody>
          <a:bodyPr wrap="square" lIns="0" tIns="0" rIns="0" bIns="0" rtlCol="0" anchor="ctr"/>
          <a:lstStyle/>
          <a:p>
            <a:pPr indent="0" marL="0">
              <a:lnSpc>
                <a:spcPct val="120000"/>
              </a:lnSpc>
              <a:buNone/>
            </a:pPr>
            <a:r>
              <a:rPr lang="en-US" sz="1700" b="1" dirty="0">
                <a:solidFill>
                  <a:srgbClr val="E7EBF0"/>
                </a:solidFill>
                <a:latin typeface="Calibri" pitchFamily="34" charset="0"/>
                <a:ea typeface="Calibri" pitchFamily="34" charset="-122"/>
                <a:cs typeface="Calibri" pitchFamily="34" charset="-120"/>
              </a:rPr>
              <a:t>Labs shipping latent world models</a:t>
            </a:r>
            <a:endParaRPr lang="en-US" sz="1700" dirty="0"/>
          </a:p>
        </p:txBody>
      </p:sp>
      <p:sp>
        <p:nvSpPr>
          <p:cNvPr id="6" name="Text 4"/>
          <p:cNvSpPr txBox="1"/>
          <p:nvPr/>
        </p:nvSpPr>
        <p:spPr>
          <a:xfrm>
            <a:off x="685800" y="3154680"/>
            <a:ext cx="3393338" cy="1371600"/>
          </a:xfrm>
          <a:prstGeom prst="rect">
            <a:avLst/>
          </a:prstGeom>
          <a:noFill/>
          <a:ln/>
        </p:spPr>
        <p:txBody>
          <a:bodyPr wrap="square" lIns="0" tIns="0" rIns="0" bIns="0" rtlCol="0" anchor="ctr"/>
          <a:lstStyle/>
          <a:p>
            <a:pPr indent="0" marL="0">
              <a:lnSpc>
                <a:spcPct val="140000"/>
              </a:lnSpc>
              <a:buNone/>
            </a:pPr>
            <a:r>
              <a:rPr lang="en-US" sz="1350" dirty="0">
                <a:solidFill>
                  <a:srgbClr val="93A0B0"/>
                </a:solidFill>
                <a:latin typeface="Calibri" pitchFamily="34" charset="0"/>
                <a:ea typeface="Calibri" pitchFamily="34" charset="-122"/>
                <a:cs typeface="Calibri" pitchFamily="34" charset="-120"/>
              </a:rPr>
              <a:t>You already report latent-space distance in your evaluations. This says what that number does and does not tell you about the scene.</a:t>
            </a:r>
            <a:endParaRPr lang="en-US" sz="1350" dirty="0"/>
          </a:p>
        </p:txBody>
      </p:sp>
      <p:sp>
        <p:nvSpPr>
          <p:cNvPr id="7" name="Shape 5"/>
          <p:cNvSpPr/>
          <p:nvPr/>
        </p:nvSpPr>
        <p:spPr>
          <a:xfrm>
            <a:off x="4399178" y="2194560"/>
            <a:ext cx="3393338" cy="32004"/>
          </a:xfrm>
          <a:prstGeom prst="rect">
            <a:avLst/>
          </a:prstGeom>
          <a:solidFill>
            <a:srgbClr val="4A94EE"/>
          </a:solidFill>
          <a:ln w="12700">
            <a:solidFill>
              <a:srgbClr val="4A94EE"/>
            </a:solidFill>
            <a:prstDash val="solid"/>
          </a:ln>
        </p:spPr>
      </p:sp>
      <p:sp>
        <p:nvSpPr>
          <p:cNvPr id="8" name="Text 6"/>
          <p:cNvSpPr txBox="1"/>
          <p:nvPr/>
        </p:nvSpPr>
        <p:spPr>
          <a:xfrm>
            <a:off x="4399178" y="2395728"/>
            <a:ext cx="3393338" cy="685800"/>
          </a:xfrm>
          <a:prstGeom prst="rect">
            <a:avLst/>
          </a:prstGeom>
          <a:noFill/>
          <a:ln/>
        </p:spPr>
        <p:txBody>
          <a:bodyPr wrap="square" lIns="0" tIns="0" rIns="0" bIns="0" rtlCol="0" anchor="ctr"/>
          <a:lstStyle/>
          <a:p>
            <a:pPr indent="0" marL="0">
              <a:lnSpc>
                <a:spcPct val="120000"/>
              </a:lnSpc>
              <a:buNone/>
            </a:pPr>
            <a:r>
              <a:rPr lang="en-US" sz="1700" b="1" dirty="0">
                <a:solidFill>
                  <a:srgbClr val="E7EBF0"/>
                </a:solidFill>
                <a:latin typeface="Calibri" pitchFamily="34" charset="0"/>
                <a:ea typeface="Calibri" pitchFamily="34" charset="-122"/>
                <a:cs typeface="Calibri" pitchFamily="34" charset="-120"/>
              </a:rPr>
              <a:t>Robotics and planning teams</a:t>
            </a:r>
            <a:endParaRPr lang="en-US" sz="1700" dirty="0"/>
          </a:p>
        </p:txBody>
      </p:sp>
      <p:sp>
        <p:nvSpPr>
          <p:cNvPr id="9" name="Text 7"/>
          <p:cNvSpPr txBox="1"/>
          <p:nvPr/>
        </p:nvSpPr>
        <p:spPr>
          <a:xfrm>
            <a:off x="4399178" y="3154680"/>
            <a:ext cx="3393338" cy="1371600"/>
          </a:xfrm>
          <a:prstGeom prst="rect">
            <a:avLst/>
          </a:prstGeom>
          <a:noFill/>
          <a:ln/>
        </p:spPr>
        <p:txBody>
          <a:bodyPr wrap="square" lIns="0" tIns="0" rIns="0" bIns="0" rtlCol="0" anchor="ctr"/>
          <a:lstStyle/>
          <a:p>
            <a:pPr indent="0" marL="0">
              <a:lnSpc>
                <a:spcPct val="140000"/>
              </a:lnSpc>
              <a:buNone/>
            </a:pPr>
            <a:r>
              <a:rPr lang="en-US" sz="1350" dirty="0">
                <a:solidFill>
                  <a:srgbClr val="93A0B0"/>
                </a:solidFill>
                <a:latin typeface="Calibri" pitchFamily="34" charset="0"/>
                <a:ea typeface="Calibri" pitchFamily="34" charset="-122"/>
                <a:cs typeface="Calibri" pitchFamily="34" charset="-120"/>
              </a:rPr>
              <a:t>Anything that plans against a rolled-forward latent inherits this gap. A confidence signal that has not passed the battery is unverified on your model.</a:t>
            </a:r>
            <a:endParaRPr lang="en-US" sz="1350" dirty="0"/>
          </a:p>
        </p:txBody>
      </p:sp>
      <p:sp>
        <p:nvSpPr>
          <p:cNvPr id="10" name="Shape 8"/>
          <p:cNvSpPr/>
          <p:nvPr/>
        </p:nvSpPr>
        <p:spPr>
          <a:xfrm>
            <a:off x="8112557" y="2194560"/>
            <a:ext cx="3393338" cy="32004"/>
          </a:xfrm>
          <a:prstGeom prst="rect">
            <a:avLst/>
          </a:prstGeom>
          <a:solidFill>
            <a:srgbClr val="4A94EE"/>
          </a:solidFill>
          <a:ln w="12700">
            <a:solidFill>
              <a:srgbClr val="4A94EE"/>
            </a:solidFill>
            <a:prstDash val="solid"/>
          </a:ln>
        </p:spPr>
      </p:sp>
      <p:sp>
        <p:nvSpPr>
          <p:cNvPr id="11" name="Text 9"/>
          <p:cNvSpPr txBox="1"/>
          <p:nvPr/>
        </p:nvSpPr>
        <p:spPr>
          <a:xfrm>
            <a:off x="8112557" y="2395728"/>
            <a:ext cx="3393338" cy="685800"/>
          </a:xfrm>
          <a:prstGeom prst="rect">
            <a:avLst/>
          </a:prstGeom>
          <a:noFill/>
          <a:ln/>
        </p:spPr>
        <p:txBody>
          <a:bodyPr wrap="square" lIns="0" tIns="0" rIns="0" bIns="0" rtlCol="0" anchor="ctr"/>
          <a:lstStyle/>
          <a:p>
            <a:pPr indent="0" marL="0">
              <a:lnSpc>
                <a:spcPct val="120000"/>
              </a:lnSpc>
              <a:buNone/>
            </a:pPr>
            <a:r>
              <a:rPr lang="en-US" sz="1700" b="1" dirty="0">
                <a:solidFill>
                  <a:srgbClr val="E7EBF0"/>
                </a:solidFill>
                <a:latin typeface="Calibri" pitchFamily="34" charset="0"/>
                <a:ea typeface="Calibri" pitchFamily="34" charset="-122"/>
                <a:cs typeface="Calibri" pitchFamily="34" charset="-120"/>
              </a:rPr>
              <a:t>Reviewers and evaluation work</a:t>
            </a:r>
            <a:endParaRPr lang="en-US" sz="1700" dirty="0"/>
          </a:p>
        </p:txBody>
      </p:sp>
      <p:sp>
        <p:nvSpPr>
          <p:cNvPr id="12" name="Text 10"/>
          <p:cNvSpPr txBox="1"/>
          <p:nvPr/>
        </p:nvSpPr>
        <p:spPr>
          <a:xfrm>
            <a:off x="8112557" y="3154680"/>
            <a:ext cx="3393338" cy="1371600"/>
          </a:xfrm>
          <a:prstGeom prst="rect">
            <a:avLst/>
          </a:prstGeom>
          <a:noFill/>
          <a:ln/>
        </p:spPr>
        <p:txBody>
          <a:bodyPr wrap="square" lIns="0" tIns="0" rIns="0" bIns="0" rtlCol="0" anchor="ctr"/>
          <a:lstStyle/>
          <a:p>
            <a:pPr indent="0" marL="0">
              <a:lnSpc>
                <a:spcPct val="140000"/>
              </a:lnSpc>
              <a:buNone/>
            </a:pPr>
            <a:r>
              <a:rPr lang="en-US" sz="1350" dirty="0">
                <a:solidFill>
                  <a:srgbClr val="93A0B0"/>
                </a:solidFill>
                <a:latin typeface="Calibri" pitchFamily="34" charset="0"/>
                <a:ea typeface="Calibri" pitchFamily="34" charset="-122"/>
                <a:cs typeface="Calibri" pitchFamily="34" charset="-120"/>
              </a:rPr>
              <a:t>A reusable, model-agnostic checklist, with the confidence intervals and the code published alongside every headline number.</a:t>
            </a:r>
            <a:endParaRPr lang="en-US" sz="1350" dirty="0"/>
          </a:p>
        </p:txBody>
      </p:sp>
      <p:sp>
        <p:nvSpPr>
          <p:cNvPr id="13" name="Text 11"/>
          <p:cNvSpPr txBox="1"/>
          <p:nvPr/>
        </p:nvSpPr>
        <p:spPr>
          <a:xfrm>
            <a:off x="685800" y="4892040"/>
            <a:ext cx="10424160" cy="777240"/>
          </a:xfrm>
          <a:prstGeom prst="rect">
            <a:avLst/>
          </a:prstGeom>
          <a:noFill/>
          <a:ln/>
        </p:spPr>
        <p:txBody>
          <a:bodyPr wrap="square" lIns="0" tIns="0" rIns="0" bIns="0" rtlCol="0" anchor="ctr"/>
          <a:lstStyle/>
          <a:p>
            <a:pPr indent="0" marL="0">
              <a:lnSpc>
                <a:spcPct val="135000"/>
              </a:lnSpc>
              <a:buNone/>
            </a:pPr>
            <a:r>
              <a:rPr lang="en-US" sz="1600" b="1" dirty="0">
                <a:solidFill>
                  <a:srgbClr val="E7EBF0"/>
                </a:solidFill>
                <a:latin typeface="Calibri" pitchFamily="34" charset="0"/>
                <a:ea typeface="Calibri" pitchFamily="34" charset="-122"/>
                <a:cs typeface="Calibri" pitchFamily="34" charset="-120"/>
              </a:rPr>
              <a:t>The bet the field is making is that latent-space evaluation is enough. On a real frozen predictor, on real video, it is not, and no cheap substitute we could construct closed the gap.</a:t>
            </a:r>
            <a:endParaRPr lang="en-US" sz="1600" dirty="0"/>
          </a:p>
        </p:txBody>
      </p:sp>
      <p:sp>
        <p:nvSpPr>
          <p:cNvPr id="14" name="Text 12"/>
          <p:cNvSpPr txBox="1"/>
          <p:nvPr/>
        </p:nvSpPr>
        <p:spPr>
          <a:xfrm>
            <a:off x="685800" y="6199632"/>
            <a:ext cx="5486400" cy="274320"/>
          </a:xfrm>
          <a:prstGeom prst="rect">
            <a:avLst/>
          </a:prstGeom>
          <a:noFill/>
          <a:ln/>
        </p:spPr>
        <p:txBody>
          <a:bodyPr wrap="square" lIns="0" tIns="0" rIns="0" bIns="0" rtlCol="0" anchor="ctr"/>
          <a:lstStyle/>
          <a:p>
            <a:pPr algn="l" indent="0" marL="0">
              <a:buNone/>
            </a:pPr>
            <a:r>
              <a:rPr lang="en-US" sz="1000" dirty="0">
                <a:solidFill>
                  <a:srgbClr val="8794A4"/>
                </a:solidFill>
                <a:latin typeface="Courier New" pitchFamily="34" charset="0"/>
                <a:ea typeface="Courier New" pitchFamily="34" charset="-122"/>
                <a:cs typeface="Courier New" pitchFamily="34" charset="-120"/>
              </a:rPr>
              <a:t>Why it matters</a:t>
            </a:r>
            <a:endParaRPr lang="en-US" sz="1000" dirty="0"/>
          </a:p>
        </p:txBody>
      </p:sp>
      <p:sp>
        <p:nvSpPr>
          <p:cNvPr id="15" name="Text 13"/>
          <p:cNvSpPr txBox="1"/>
          <p:nvPr/>
        </p:nvSpPr>
        <p:spPr>
          <a:xfrm>
            <a:off x="9677095" y="6199632"/>
            <a:ext cx="1828800" cy="274320"/>
          </a:xfrm>
          <a:prstGeom prst="rect">
            <a:avLst/>
          </a:prstGeom>
          <a:noFill/>
          <a:ln/>
        </p:spPr>
        <p:txBody>
          <a:bodyPr wrap="square" lIns="0" tIns="0" rIns="0" bIns="0" rtlCol="0" anchor="ctr"/>
          <a:lstStyle/>
          <a:p>
            <a:pPr algn="r" indent="0" marL="0">
              <a:buNone/>
            </a:pPr>
            <a:r>
              <a:rPr lang="en-US" sz="1000" dirty="0">
                <a:solidFill>
                  <a:srgbClr val="8794A4"/>
                </a:solidFill>
                <a:latin typeface="Courier New" pitchFamily="34" charset="0"/>
                <a:ea typeface="Courier New" pitchFamily="34" charset="-122"/>
                <a:cs typeface="Courier New"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6"/>
        </a:solidFill>
      </p:bgPr>
    </p:bg>
    <p:spTree>
      <p:nvGrpSpPr>
        <p:cNvPr id="1" name=""/>
        <p:cNvGrpSpPr/>
        <p:nvPr/>
      </p:nvGrpSpPr>
      <p:grpSpPr>
        <a:xfrm>
          <a:off x="0" y="0"/>
          <a:ext cx="0" cy="0"/>
          <a:chOff x="0" y="0"/>
          <a:chExt cx="0" cy="0"/>
        </a:xfrm>
      </p:grpSpPr>
      <p:sp>
        <p:nvSpPr>
          <p:cNvPr id="2" name="Text 0"/>
          <p:cNvSpPr txBox="1"/>
          <p:nvPr/>
        </p:nvSpPr>
        <p:spPr>
          <a:xfrm>
            <a:off x="685800" y="868680"/>
            <a:ext cx="10820095" cy="274320"/>
          </a:xfrm>
          <a:prstGeom prst="rect">
            <a:avLst/>
          </a:prstGeom>
          <a:noFill/>
          <a:ln/>
        </p:spPr>
        <p:txBody>
          <a:bodyPr wrap="square" lIns="0" tIns="0" rIns="0" bIns="0" rtlCol="0" anchor="ctr"/>
          <a:lstStyle/>
          <a:p>
            <a:pPr indent="0" marL="0">
              <a:buNone/>
            </a:pPr>
            <a:r>
              <a:rPr lang="en-US" sz="1200" spc="200" kern="0" dirty="0">
                <a:solidFill>
                  <a:srgbClr val="93A0B0"/>
                </a:solidFill>
                <a:latin typeface="Courier New" pitchFamily="34" charset="0"/>
                <a:ea typeface="Courier New" pitchFamily="34" charset="-122"/>
                <a:cs typeface="Courier New" pitchFamily="34" charset="-120"/>
              </a:rPr>
              <a:t>EVERYTHING IS PUBLIC</a:t>
            </a:r>
            <a:endParaRPr lang="en-US" sz="1200" dirty="0"/>
          </a:p>
        </p:txBody>
      </p:sp>
      <p:sp>
        <p:nvSpPr>
          <p:cNvPr id="3" name="Text 1"/>
          <p:cNvSpPr txBox="1"/>
          <p:nvPr/>
        </p:nvSpPr>
        <p:spPr>
          <a:xfrm>
            <a:off x="685800" y="1463040"/>
            <a:ext cx="10241280" cy="1554480"/>
          </a:xfrm>
          <a:prstGeom prst="rect">
            <a:avLst/>
          </a:prstGeom>
          <a:noFill/>
          <a:ln/>
        </p:spPr>
        <p:txBody>
          <a:bodyPr wrap="square" lIns="0" tIns="0" rIns="0" bIns="0" rtlCol="0" anchor="ctr"/>
          <a:lstStyle/>
          <a:p>
            <a:pPr indent="0" marL="0">
              <a:lnSpc>
                <a:spcPct val="106000"/>
              </a:lnSpc>
              <a:buNone/>
            </a:pPr>
            <a:r>
              <a:rPr lang="en-US" sz="3800" i="1" dirty="0">
                <a:solidFill>
                  <a:srgbClr val="E7EBF0"/>
                </a:solidFill>
                <a:latin typeface="Cambria" pitchFamily="34" charset="0"/>
                <a:ea typeface="Cambria" pitchFamily="34" charset="-122"/>
                <a:cs typeface="Cambria" pitchFamily="34" charset="-120"/>
              </a:rPr>
              <a:t>One page: the protocol, the maths, the live results and the per-clip evidence.</a:t>
            </a:r>
            <a:endParaRPr lang="en-US" sz="3800" dirty="0"/>
          </a:p>
        </p:txBody>
      </p:sp>
      <p:sp>
        <p:nvSpPr>
          <p:cNvPr id="4" name="Text 2"/>
          <p:cNvSpPr txBox="1"/>
          <p:nvPr/>
        </p:nvSpPr>
        <p:spPr>
          <a:xfrm>
            <a:off x="685800" y="3200400"/>
            <a:ext cx="7315200" cy="457200"/>
          </a:xfrm>
          <a:prstGeom prst="rect">
            <a:avLst/>
          </a:prstGeom>
          <a:noFill/>
          <a:ln/>
        </p:spPr>
        <p:txBody>
          <a:bodyPr wrap="square" lIns="0" tIns="0" rIns="0" bIns="0" rtlCol="0" anchor="ctr"/>
          <a:lstStyle/>
          <a:p>
            <a:pPr indent="0" marL="0">
              <a:buNone/>
            </a:pPr>
            <a:r>
              <a:rPr lang="en-US" sz="2000" b="1" dirty="0">
                <a:solidFill>
                  <a:srgbClr val="4A94EE"/>
                </a:solidFill>
                <a:latin typeface="Courier New" pitchFamily="34" charset="0"/>
                <a:ea typeface="Courier New" pitchFamily="34" charset="-122"/>
                <a:cs typeface="Courier New" pitchFamily="34" charset="-120"/>
              </a:rPr>
              <a:t>prajak002.github.io/Latent2rgb</a:t>
            </a:r>
            <a:endParaRPr lang="en-US" sz="2000" dirty="0"/>
          </a:p>
        </p:txBody>
      </p:sp>
      <p:sp>
        <p:nvSpPr>
          <p:cNvPr id="5" name="Shape 3"/>
          <p:cNvSpPr/>
          <p:nvPr/>
        </p:nvSpPr>
        <p:spPr>
          <a:xfrm>
            <a:off x="685800" y="4069080"/>
            <a:ext cx="3423818" cy="1234440"/>
          </a:xfrm>
          <a:prstGeom prst="roundRect">
            <a:avLst>
              <a:gd name="adj" fmla="val 5926"/>
            </a:avLst>
          </a:prstGeom>
          <a:solidFill>
            <a:srgbClr val="1A2029"/>
          </a:solidFill>
          <a:ln w="9525">
            <a:solidFill>
              <a:srgbClr val="2C3440"/>
            </a:solidFill>
            <a:prstDash val="solid"/>
          </a:ln>
        </p:spPr>
      </p:sp>
      <p:sp>
        <p:nvSpPr>
          <p:cNvPr id="6" name="Text 4"/>
          <p:cNvSpPr txBox="1"/>
          <p:nvPr/>
        </p:nvSpPr>
        <p:spPr>
          <a:xfrm>
            <a:off x="941832" y="4251960"/>
            <a:ext cx="2911754" cy="237744"/>
          </a:xfrm>
          <a:prstGeom prst="rect">
            <a:avLst/>
          </a:prstGeom>
          <a:noFill/>
          <a:ln/>
        </p:spPr>
        <p:txBody>
          <a:bodyPr wrap="square" lIns="0" tIns="0" rIns="0" bIns="0" rtlCol="0" anchor="ctr"/>
          <a:lstStyle/>
          <a:p>
            <a:pPr indent="0" marL="0">
              <a:buNone/>
            </a:pPr>
            <a:r>
              <a:rPr lang="en-US" sz="1100" dirty="0">
                <a:solidFill>
                  <a:srgbClr val="93A0B0"/>
                </a:solidFill>
                <a:latin typeface="Courier New" pitchFamily="34" charset="0"/>
                <a:ea typeface="Courier New" pitchFamily="34" charset="-122"/>
                <a:cs typeface="Courier New" pitchFamily="34" charset="-120"/>
              </a:rPr>
              <a:t>Sections 5 to 7</a:t>
            </a:r>
            <a:endParaRPr lang="en-US" sz="1100" dirty="0"/>
          </a:p>
        </p:txBody>
      </p:sp>
      <p:sp>
        <p:nvSpPr>
          <p:cNvPr id="7" name="Text 5"/>
          <p:cNvSpPr txBox="1"/>
          <p:nvPr/>
        </p:nvSpPr>
        <p:spPr>
          <a:xfrm>
            <a:off x="941832" y="4526280"/>
            <a:ext cx="2911754" cy="658368"/>
          </a:xfrm>
          <a:prstGeom prst="rect">
            <a:avLst/>
          </a:prstGeom>
          <a:noFill/>
          <a:ln/>
        </p:spPr>
        <p:txBody>
          <a:bodyPr wrap="square" lIns="0" tIns="0" rIns="0" bIns="0" rtlCol="0" anchor="ctr"/>
          <a:lstStyle/>
          <a:p>
            <a:pPr indent="0" marL="0">
              <a:lnSpc>
                <a:spcPct val="130000"/>
              </a:lnSpc>
              <a:buNone/>
            </a:pPr>
            <a:r>
              <a:rPr lang="en-US" sz="1300" dirty="0">
                <a:solidFill>
                  <a:srgbClr val="E7EBF0"/>
                </a:solidFill>
                <a:latin typeface="Calibri" pitchFamily="34" charset="0"/>
                <a:ea typeface="Calibri" pitchFamily="34" charset="-122"/>
                <a:cs typeface="Calibri" pitchFamily="34" charset="-120"/>
              </a:rPr>
              <a:t>Every pipeline step with the equation it evaluates, and a plain-language gloss</a:t>
            </a:r>
            <a:endParaRPr lang="en-US" sz="1300" dirty="0"/>
          </a:p>
        </p:txBody>
      </p:sp>
      <p:sp>
        <p:nvSpPr>
          <p:cNvPr id="8" name="Shape 6"/>
          <p:cNvSpPr/>
          <p:nvPr/>
        </p:nvSpPr>
        <p:spPr>
          <a:xfrm>
            <a:off x="4383938" y="4069080"/>
            <a:ext cx="3423818" cy="1234440"/>
          </a:xfrm>
          <a:prstGeom prst="roundRect">
            <a:avLst>
              <a:gd name="adj" fmla="val 5926"/>
            </a:avLst>
          </a:prstGeom>
          <a:solidFill>
            <a:srgbClr val="1A2029"/>
          </a:solidFill>
          <a:ln w="9525">
            <a:solidFill>
              <a:srgbClr val="2C3440"/>
            </a:solidFill>
            <a:prstDash val="solid"/>
          </a:ln>
        </p:spPr>
      </p:sp>
      <p:sp>
        <p:nvSpPr>
          <p:cNvPr id="9" name="Text 7"/>
          <p:cNvSpPr txBox="1"/>
          <p:nvPr/>
        </p:nvSpPr>
        <p:spPr>
          <a:xfrm>
            <a:off x="4639970" y="4251960"/>
            <a:ext cx="2911754" cy="237744"/>
          </a:xfrm>
          <a:prstGeom prst="rect">
            <a:avLst/>
          </a:prstGeom>
          <a:noFill/>
          <a:ln/>
        </p:spPr>
        <p:txBody>
          <a:bodyPr wrap="square" lIns="0" tIns="0" rIns="0" bIns="0" rtlCol="0" anchor="ctr"/>
          <a:lstStyle/>
          <a:p>
            <a:pPr indent="0" marL="0">
              <a:buNone/>
            </a:pPr>
            <a:r>
              <a:rPr lang="en-US" sz="1100" dirty="0">
                <a:solidFill>
                  <a:srgbClr val="93A0B0"/>
                </a:solidFill>
                <a:latin typeface="Courier New" pitchFamily="34" charset="0"/>
                <a:ea typeface="Courier New" pitchFamily="34" charset="-122"/>
                <a:cs typeface="Courier New" pitchFamily="34" charset="-120"/>
              </a:rPr>
              <a:t>Section 9</a:t>
            </a:r>
            <a:endParaRPr lang="en-US" sz="1100" dirty="0"/>
          </a:p>
        </p:txBody>
      </p:sp>
      <p:sp>
        <p:nvSpPr>
          <p:cNvPr id="10" name="Text 8"/>
          <p:cNvSpPr txBox="1"/>
          <p:nvPr/>
        </p:nvSpPr>
        <p:spPr>
          <a:xfrm>
            <a:off x="4639970" y="4526280"/>
            <a:ext cx="2911754" cy="658368"/>
          </a:xfrm>
          <a:prstGeom prst="rect">
            <a:avLst/>
          </a:prstGeom>
          <a:noFill/>
          <a:ln/>
        </p:spPr>
        <p:txBody>
          <a:bodyPr wrap="square" lIns="0" tIns="0" rIns="0" bIns="0" rtlCol="0" anchor="ctr"/>
          <a:lstStyle/>
          <a:p>
            <a:pPr indent="0" marL="0">
              <a:lnSpc>
                <a:spcPct val="130000"/>
              </a:lnSpc>
              <a:buNone/>
            </a:pPr>
            <a:r>
              <a:rPr lang="en-US" sz="1300" dirty="0">
                <a:solidFill>
                  <a:srgbClr val="E7EBF0"/>
                </a:solidFill>
                <a:latin typeface="Calibri" pitchFamily="34" charset="0"/>
                <a:ea typeface="Calibri" pitchFamily="34" charset="-122"/>
                <a:cs typeface="Calibri" pitchFamily="34" charset="-120"/>
              </a:rPr>
              <a:t>Drag-compare gallery: ground truth against decoded rollout, six real clips</a:t>
            </a:r>
            <a:endParaRPr lang="en-US" sz="1300" dirty="0"/>
          </a:p>
        </p:txBody>
      </p:sp>
      <p:sp>
        <p:nvSpPr>
          <p:cNvPr id="11" name="Shape 9"/>
          <p:cNvSpPr/>
          <p:nvPr/>
        </p:nvSpPr>
        <p:spPr>
          <a:xfrm>
            <a:off x="8082077" y="4069080"/>
            <a:ext cx="3423818" cy="1234440"/>
          </a:xfrm>
          <a:prstGeom prst="roundRect">
            <a:avLst>
              <a:gd name="adj" fmla="val 5926"/>
            </a:avLst>
          </a:prstGeom>
          <a:solidFill>
            <a:srgbClr val="1A2029"/>
          </a:solidFill>
          <a:ln w="9525">
            <a:solidFill>
              <a:srgbClr val="2C3440"/>
            </a:solidFill>
            <a:prstDash val="solid"/>
          </a:ln>
        </p:spPr>
      </p:sp>
      <p:sp>
        <p:nvSpPr>
          <p:cNvPr id="12" name="Text 10"/>
          <p:cNvSpPr txBox="1"/>
          <p:nvPr/>
        </p:nvSpPr>
        <p:spPr>
          <a:xfrm>
            <a:off x="8338109" y="4251960"/>
            <a:ext cx="2911754" cy="237744"/>
          </a:xfrm>
          <a:prstGeom prst="rect">
            <a:avLst/>
          </a:prstGeom>
          <a:noFill/>
          <a:ln/>
        </p:spPr>
        <p:txBody>
          <a:bodyPr wrap="square" lIns="0" tIns="0" rIns="0" bIns="0" rtlCol="0" anchor="ctr"/>
          <a:lstStyle/>
          <a:p>
            <a:pPr indent="0" marL="0">
              <a:buNone/>
            </a:pPr>
            <a:r>
              <a:rPr lang="en-US" sz="1100" dirty="0">
                <a:solidFill>
                  <a:srgbClr val="93A0B0"/>
                </a:solidFill>
                <a:latin typeface="Courier New" pitchFamily="34" charset="0"/>
                <a:ea typeface="Courier New" pitchFamily="34" charset="-122"/>
                <a:cs typeface="Courier New" pitchFamily="34" charset="-120"/>
              </a:rPr>
              <a:t>Sections 10 to 13</a:t>
            </a:r>
            <a:endParaRPr lang="en-US" sz="1100" dirty="0"/>
          </a:p>
        </p:txBody>
      </p:sp>
      <p:sp>
        <p:nvSpPr>
          <p:cNvPr id="13" name="Text 11"/>
          <p:cNvSpPr txBox="1"/>
          <p:nvPr/>
        </p:nvSpPr>
        <p:spPr>
          <a:xfrm>
            <a:off x="8338109" y="4526280"/>
            <a:ext cx="2911754" cy="658368"/>
          </a:xfrm>
          <a:prstGeom prst="rect">
            <a:avLst/>
          </a:prstGeom>
          <a:noFill/>
          <a:ln/>
        </p:spPr>
        <p:txBody>
          <a:bodyPr wrap="square" lIns="0" tIns="0" rIns="0" bIns="0" rtlCol="0" anchor="ctr"/>
          <a:lstStyle/>
          <a:p>
            <a:pPr indent="0" marL="0">
              <a:lnSpc>
                <a:spcPct val="130000"/>
              </a:lnSpc>
              <a:buNone/>
            </a:pPr>
            <a:r>
              <a:rPr lang="en-US" sz="1300" dirty="0">
                <a:solidFill>
                  <a:srgbClr val="E7EBF0"/>
                </a:solidFill>
                <a:latin typeface="Calibri" pitchFamily="34" charset="0"/>
                <a:ea typeface="Calibri" pitchFamily="34" charset="-122"/>
                <a:cs typeface="Calibri" pitchFamily="34" charset="-120"/>
              </a:rPr>
              <a:t>The four-test battery, the interpretation, and all three model families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Horizon Ladder</dc:title>
  <dc:subject>PptxGenJS Presentation</dc:subject>
  <dc:creator>Horizon Ladder</dc:creator>
  <cp:lastModifiedBy>Horizon Ladder</cp:lastModifiedBy>
  <cp:revision>1</cp:revision>
  <dcterms:created xsi:type="dcterms:W3CDTF">2026-09-18T16:35:52Z</dcterms:created>
  <dcterms:modified xsi:type="dcterms:W3CDTF">2026-09-18T16:35:52Z</dcterms:modified>
</cp:coreProperties>
</file>